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7"/>
  </p:notesMasterIdLst>
  <p:sldIdLst>
    <p:sldId id="1300" r:id="rId5"/>
    <p:sldId id="1349" r:id="rId6"/>
    <p:sldId id="1291" r:id="rId7"/>
    <p:sldId id="1350" r:id="rId8"/>
    <p:sldId id="1351" r:id="rId9"/>
    <p:sldId id="1352" r:id="rId10"/>
    <p:sldId id="1353" r:id="rId11"/>
    <p:sldId id="1358" r:id="rId12"/>
    <p:sldId id="1354" r:id="rId13"/>
    <p:sldId id="1355" r:id="rId14"/>
    <p:sldId id="1356" r:id="rId15"/>
    <p:sldId id="1250" r:id="rId16"/>
  </p:sldIdLst>
  <p:sldSz cx="12192000" cy="6858000"/>
  <p:notesSz cx="6858000" cy="9144000"/>
  <p:custDataLst>
    <p:tags r:id="rId1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EB"/>
    <a:srgbClr val="213164"/>
    <a:srgbClr val="2E448A"/>
    <a:srgbClr val="EDEEFF"/>
    <a:srgbClr val="25BD37"/>
    <a:srgbClr val="7FBA00"/>
    <a:srgbClr val="EDFFC5"/>
    <a:srgbClr val="EBEEF9"/>
    <a:srgbClr val="FED500"/>
    <a:srgbClr val="484F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482"/>
  </p:normalViewPr>
  <p:slideViewPr>
    <p:cSldViewPr snapToGrid="0">
      <p:cViewPr varScale="1">
        <p:scale>
          <a:sx n="70" d="100"/>
          <a:sy n="70" d="100"/>
        </p:scale>
        <p:origin x="512" y="60"/>
      </p:cViewPr>
      <p:guideLst>
        <p:guide orient="horz" pos="792"/>
        <p:guide pos="192"/>
        <p:guide orient="horz" pos="10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jal shirsath" userId="f19d0d10b9cefac9" providerId="LiveId" clId="{21955B8F-45D5-4CE5-9EFF-9721B943F037}"/>
    <pc:docChg chg="undo custSel modSld">
      <pc:chgData name="sejal shirsath" userId="f19d0d10b9cefac9" providerId="LiveId" clId="{21955B8F-45D5-4CE5-9EFF-9721B943F037}" dt="2026-02-07T04:56:24.176" v="7" actId="1076"/>
      <pc:docMkLst>
        <pc:docMk/>
      </pc:docMkLst>
      <pc:sldChg chg="addSp delSp mod">
        <pc:chgData name="sejal shirsath" userId="f19d0d10b9cefac9" providerId="LiveId" clId="{21955B8F-45D5-4CE5-9EFF-9721B943F037}" dt="2026-02-06T13:59:12.456" v="4" actId="478"/>
        <pc:sldMkLst>
          <pc:docMk/>
          <pc:sldMk cId="2000950779" sldId="1300"/>
        </pc:sldMkLst>
        <pc:spChg chg="add del">
          <ac:chgData name="sejal shirsath" userId="f19d0d10b9cefac9" providerId="LiveId" clId="{21955B8F-45D5-4CE5-9EFF-9721B943F037}" dt="2026-02-06T13:59:12.456" v="4" actId="478"/>
          <ac:spMkLst>
            <pc:docMk/>
            <pc:sldMk cId="2000950779" sldId="1300"/>
            <ac:spMk id="5" creationId="{BB9AA95F-56F4-3F03-5804-8F7C6AFCE0BB}"/>
          </ac:spMkLst>
        </pc:spChg>
        <pc:picChg chg="add del">
          <ac:chgData name="sejal shirsath" userId="f19d0d10b9cefac9" providerId="LiveId" clId="{21955B8F-45D5-4CE5-9EFF-9721B943F037}" dt="2026-02-06T13:59:11.743" v="3" actId="478"/>
          <ac:picMkLst>
            <pc:docMk/>
            <pc:sldMk cId="2000950779" sldId="1300"/>
            <ac:picMk id="19" creationId="{2A27540A-9E08-71C9-C49B-6AA04DE6EB1C}"/>
          </ac:picMkLst>
        </pc:picChg>
      </pc:sldChg>
      <pc:sldChg chg="modSp mod">
        <pc:chgData name="sejal shirsath" userId="f19d0d10b9cefac9" providerId="LiveId" clId="{21955B8F-45D5-4CE5-9EFF-9721B943F037}" dt="2026-02-07T04:47:17.830" v="6" actId="1076"/>
        <pc:sldMkLst>
          <pc:docMk/>
          <pc:sldMk cId="3937326058" sldId="1352"/>
        </pc:sldMkLst>
        <pc:spChg chg="mod">
          <ac:chgData name="sejal shirsath" userId="f19d0d10b9cefac9" providerId="LiveId" clId="{21955B8F-45D5-4CE5-9EFF-9721B943F037}" dt="2026-02-07T04:47:17.830" v="6" actId="1076"/>
          <ac:spMkLst>
            <pc:docMk/>
            <pc:sldMk cId="3937326058" sldId="1352"/>
            <ac:spMk id="2" creationId="{E15BFC9B-AE6E-0231-F153-9FA6A53336DE}"/>
          </ac:spMkLst>
        </pc:spChg>
      </pc:sldChg>
      <pc:sldChg chg="modSp mod">
        <pc:chgData name="sejal shirsath" userId="f19d0d10b9cefac9" providerId="LiveId" clId="{21955B8F-45D5-4CE5-9EFF-9721B943F037}" dt="2026-02-07T04:56:24.176" v="7" actId="1076"/>
        <pc:sldMkLst>
          <pc:docMk/>
          <pc:sldMk cId="1247416098" sldId="1353"/>
        </pc:sldMkLst>
        <pc:spChg chg="mod">
          <ac:chgData name="sejal shirsath" userId="f19d0d10b9cefac9" providerId="LiveId" clId="{21955B8F-45D5-4CE5-9EFF-9721B943F037}" dt="2026-02-07T04:56:24.176" v="7" actId="1076"/>
          <ac:spMkLst>
            <pc:docMk/>
            <pc:sldMk cId="1247416098" sldId="1353"/>
            <ac:spMk id="2" creationId="{FF43A1D2-BA94-C28C-CC33-20F2A8CBF8E6}"/>
          </ac:spMkLst>
        </pc:spChg>
      </pc:sldChg>
      <pc:sldChg chg="modSp mod">
        <pc:chgData name="sejal shirsath" userId="f19d0d10b9cefac9" providerId="LiveId" clId="{21955B8F-45D5-4CE5-9EFF-9721B943F037}" dt="2026-02-06T13:59:13.388" v="5" actId="1076"/>
        <pc:sldMkLst>
          <pc:docMk/>
          <pc:sldMk cId="459288522" sldId="1356"/>
        </pc:sldMkLst>
        <pc:spChg chg="mod">
          <ac:chgData name="sejal shirsath" userId="f19d0d10b9cefac9" providerId="LiveId" clId="{21955B8F-45D5-4CE5-9EFF-9721B943F037}" dt="2026-02-06T13:59:13.388" v="5" actId="1076"/>
          <ac:spMkLst>
            <pc:docMk/>
            <pc:sldMk cId="459288522" sldId="1356"/>
            <ac:spMk id="3" creationId="{6FD4E168-EACB-8D02-9821-C5A90DB468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txBody>
          <a:bodyPr/>
          <a:lstStyle/>
          <a:p>
            <a:endParaRPr lang="en-IN"/>
          </a:p>
        </p:txBody>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61978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D97FCEE-C2A8-37D5-A996-49BB545B32C0}"/>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975B8980-94AA-8A6F-430D-0494B7C176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A7D6731-161F-2215-BDD4-38D7B762C4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44211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11089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B634D27-F068-EBEB-8770-15B1970FD781}"/>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3EC7E5E5-08B1-E327-1392-BDBF845246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62BD9A5-ADCC-1A80-1BEB-CABC569E0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57319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C7FEBF0-06E5-C2B8-032E-BD1140EC09E9}"/>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1C6BB7A9-64CC-4552-CA05-10714EF8D5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96E12A9-0FB9-1C33-EAD4-8BC34D67D7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80100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912BB92-19C5-FEAF-8CF0-0A26FF157EBF}"/>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D21BCEAF-EE14-3457-B94E-B4E055AD96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E33C037B-43A5-DBE4-60BB-7D8372DCD2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46139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05ABAFC-C9BD-AB1E-8A8A-9EDC55689EC2}"/>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3CC989CB-9A3F-2F71-382B-9645325FE3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EAE55A1-FB6B-6141-FCEA-50C1C0732E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7441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97757C-C9C8-D062-5A0A-E627466A24C7}"/>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5EFC4385-9F62-DE91-1C49-25EFFAA507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3177FAE6-75CC-FEF9-3CAC-8FE5239D67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697390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4F84F44-6F11-41C0-2531-B2D8400490BB}"/>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CFFEF418-B406-D0A7-8310-136EE4643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C7A9698E-E051-C03D-505A-30B549F0D0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12060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2949AFF-78D6-50DA-B607-940763F2C862}"/>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361DAE3-574F-2869-A475-53A418F0F3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4598F59E-E26E-B08C-63A5-3796B2189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634077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839BF32-23F1-0514-1672-5AE4AB500FB3}"/>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EF06C08A-200A-0E8C-55D0-5D4BC07B5F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C29C00B7-3928-D803-DCB2-F342254D8C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33277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pPr marL="0" indent="0">
              <a:buNone/>
            </a:pPr>
            <a:r>
              <a:rPr lang="en-US" b="1" spc="-5" dirty="0">
                <a:solidFill>
                  <a:srgbClr val="223366"/>
                </a:solidFill>
              </a:rPr>
              <a:t>Thank You !!</a:t>
            </a:r>
            <a:endParaRPr lang="en-US" sz="1100" b="1" spc="-5" dirty="0">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8C18A-94E2-AE13-8B06-BA9F6BD6DD31}"/>
              </a:ext>
            </a:extLst>
          </p:cNvPr>
          <p:cNvSpPr>
            <a:spLocks noGrp="1"/>
          </p:cNvSpPr>
          <p:nvPr>
            <p:ph type="dt" sz="half" idx="10"/>
          </p:nvPr>
        </p:nvSpPr>
        <p:spPr/>
        <p:txBody>
          <a:bodyPr/>
          <a:lstStyle/>
          <a:p>
            <a:fld id="{4DE8089E-5BFA-40F0-B876-ADFE03496B7F}" type="datetimeFigureOut">
              <a:rPr lang="en-IN" smtClean="0"/>
              <a:t>07-02-2026</a:t>
            </a:fld>
            <a:endParaRPr lang="en-IN"/>
          </a:p>
        </p:txBody>
      </p:sp>
      <p:sp>
        <p:nvSpPr>
          <p:cNvPr id="3" name="Footer Placeholder 2">
            <a:extLst>
              <a:ext uri="{FF2B5EF4-FFF2-40B4-BE49-F238E27FC236}">
                <a16:creationId xmlns:a16="http://schemas.microsoft.com/office/drawing/2014/main" id="{21E892B4-0FB0-425D-7C43-06BB328A91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D29878-4D45-882F-621F-195E0CE49B04}"/>
              </a:ext>
            </a:extLst>
          </p:cNvPr>
          <p:cNvSpPr>
            <a:spLocks noGrp="1"/>
          </p:cNvSpPr>
          <p:nvPr>
            <p:ph type="sldNum" sz="quarter" idx="12"/>
          </p:nvPr>
        </p:nvSpPr>
        <p:spPr/>
        <p:txBody>
          <a:bodyPr/>
          <a:lstStyle/>
          <a:p>
            <a:fld id="{CF63122C-94FD-45B7-812A-8C690DBDD321}" type="slidenum">
              <a:rPr lang="en-IN" smtClean="0"/>
              <a:t>‹#›</a:t>
            </a:fld>
            <a:endParaRPr lang="en-IN"/>
          </a:p>
        </p:txBody>
      </p:sp>
    </p:spTree>
    <p:extLst>
      <p:ext uri="{BB962C8B-B14F-4D97-AF65-F5344CB8AC3E}">
        <p14:creationId xmlns:p14="http://schemas.microsoft.com/office/powerpoint/2010/main" val="1509534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txBody>
          <a:bodyPr/>
          <a:lstStyle/>
          <a:p>
            <a:endParaRPr lang="en-IN"/>
          </a:p>
        </p:txBody>
      </p:sp>
      <p:sp>
        <p:nvSpPr>
          <p:cNvPr id="3" name="Shape 1"/>
          <p:cNvSpPr/>
          <p:nvPr/>
        </p:nvSpPr>
        <p:spPr>
          <a:xfrm>
            <a:off x="0" y="0"/>
            <a:ext cx="12192000" cy="6858000"/>
          </a:xfrm>
          <a:prstGeom prst="rect">
            <a:avLst/>
          </a:prstGeom>
          <a:solidFill>
            <a:srgbClr val="FEF5E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012180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txBody>
          <a:bodyPr/>
          <a:lstStyle/>
          <a:p>
            <a:endParaRPr lang="en-IN"/>
          </a:p>
        </p:txBody>
      </p:sp>
      <p:sp>
        <p:nvSpPr>
          <p:cNvPr id="3" name="Shape 1"/>
          <p:cNvSpPr/>
          <p:nvPr/>
        </p:nvSpPr>
        <p:spPr>
          <a:xfrm>
            <a:off x="0" y="0"/>
            <a:ext cx="12192000" cy="6858000"/>
          </a:xfrm>
          <a:prstGeom prst="rect">
            <a:avLst/>
          </a:prstGeom>
          <a:solidFill>
            <a:srgbClr val="FEF5E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360282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txBody>
          <a:bodyPr/>
          <a:lstStyle/>
          <a:p>
            <a:endParaRPr lang="en-IN"/>
          </a:p>
        </p:txBody>
      </p:sp>
      <p:sp>
        <p:nvSpPr>
          <p:cNvPr id="3" name="Shape 1"/>
          <p:cNvSpPr/>
          <p:nvPr/>
        </p:nvSpPr>
        <p:spPr>
          <a:xfrm>
            <a:off x="0" y="0"/>
            <a:ext cx="12192000" cy="6858000"/>
          </a:xfrm>
          <a:prstGeom prst="rect">
            <a:avLst/>
          </a:prstGeom>
          <a:solidFill>
            <a:srgbClr val="FEF5E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93444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txBody>
          <a:bodyPr/>
          <a:lstStyle/>
          <a:p>
            <a:endParaRPr lang="en-IN"/>
          </a:p>
        </p:txBody>
      </p:sp>
      <p:sp>
        <p:nvSpPr>
          <p:cNvPr id="3" name="Shape 1"/>
          <p:cNvSpPr/>
          <p:nvPr/>
        </p:nvSpPr>
        <p:spPr>
          <a:xfrm>
            <a:off x="0" y="0"/>
            <a:ext cx="12192000" cy="6858000"/>
          </a:xfrm>
          <a:prstGeom prst="rect">
            <a:avLst/>
          </a:prstGeom>
          <a:solidFill>
            <a:srgbClr val="FEF5E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941693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txBody>
          <a:bodyPr/>
          <a:lstStyle/>
          <a:p>
            <a:endParaRPr lang="en-IN"/>
          </a:p>
        </p:txBody>
      </p:sp>
      <p:sp>
        <p:nvSpPr>
          <p:cNvPr id="3" name="Shape 1"/>
          <p:cNvSpPr/>
          <p:nvPr/>
        </p:nvSpPr>
        <p:spPr>
          <a:xfrm>
            <a:off x="0" y="0"/>
            <a:ext cx="12192000" cy="6858000"/>
          </a:xfrm>
          <a:prstGeom prst="rect">
            <a:avLst/>
          </a:prstGeom>
          <a:solidFill>
            <a:srgbClr val="FEF5E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058587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9F4BE"/>
          </a:solidFill>
          <a:ln/>
        </p:spPr>
        <p:txBody>
          <a:bodyPr/>
          <a:lstStyle/>
          <a:p>
            <a:endParaRPr lang="en-IN"/>
          </a:p>
        </p:txBody>
      </p:sp>
      <p:sp>
        <p:nvSpPr>
          <p:cNvPr id="3" name="Shape 1"/>
          <p:cNvSpPr/>
          <p:nvPr/>
        </p:nvSpPr>
        <p:spPr>
          <a:xfrm>
            <a:off x="0" y="0"/>
            <a:ext cx="12192000" cy="6858000"/>
          </a:xfrm>
          <a:prstGeom prst="rect">
            <a:avLst/>
          </a:prstGeom>
          <a:solidFill>
            <a:srgbClr val="FFFDE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5461519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9F4BE"/>
          </a:solidFill>
          <a:ln/>
        </p:spPr>
        <p:txBody>
          <a:bodyPr/>
          <a:lstStyle/>
          <a:p>
            <a:endParaRPr lang="en-IN"/>
          </a:p>
        </p:txBody>
      </p:sp>
      <p:sp>
        <p:nvSpPr>
          <p:cNvPr id="3" name="Shape 1"/>
          <p:cNvSpPr/>
          <p:nvPr/>
        </p:nvSpPr>
        <p:spPr>
          <a:xfrm>
            <a:off x="0" y="0"/>
            <a:ext cx="12192000" cy="6858000"/>
          </a:xfrm>
          <a:prstGeom prst="rect">
            <a:avLst/>
          </a:prstGeom>
          <a:solidFill>
            <a:srgbClr val="FFFDE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324419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9F4BE"/>
          </a:solidFill>
          <a:ln/>
        </p:spPr>
        <p:txBody>
          <a:bodyPr/>
          <a:lstStyle/>
          <a:p>
            <a:endParaRPr lang="en-IN"/>
          </a:p>
        </p:txBody>
      </p:sp>
      <p:sp>
        <p:nvSpPr>
          <p:cNvPr id="3" name="Shape 1"/>
          <p:cNvSpPr/>
          <p:nvPr/>
        </p:nvSpPr>
        <p:spPr>
          <a:xfrm>
            <a:off x="0" y="0"/>
            <a:ext cx="12192000" cy="6858000"/>
          </a:xfrm>
          <a:prstGeom prst="rect">
            <a:avLst/>
          </a:prstGeom>
          <a:solidFill>
            <a:srgbClr val="FFFDE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214842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9F4BE"/>
          </a:solidFill>
          <a:ln/>
        </p:spPr>
        <p:txBody>
          <a:bodyPr/>
          <a:lstStyle/>
          <a:p>
            <a:endParaRPr lang="en-IN"/>
          </a:p>
        </p:txBody>
      </p:sp>
      <p:sp>
        <p:nvSpPr>
          <p:cNvPr id="3" name="Shape 1"/>
          <p:cNvSpPr/>
          <p:nvPr/>
        </p:nvSpPr>
        <p:spPr>
          <a:xfrm>
            <a:off x="0" y="0"/>
            <a:ext cx="12192000" cy="6858000"/>
          </a:xfrm>
          <a:prstGeom prst="rect">
            <a:avLst/>
          </a:prstGeom>
          <a:solidFill>
            <a:srgbClr val="FFFDE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60208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9F4BE"/>
          </a:solidFill>
          <a:ln/>
        </p:spPr>
        <p:txBody>
          <a:bodyPr/>
          <a:lstStyle/>
          <a:p>
            <a:endParaRPr lang="en-IN"/>
          </a:p>
        </p:txBody>
      </p:sp>
      <p:sp>
        <p:nvSpPr>
          <p:cNvPr id="3" name="Shape 1"/>
          <p:cNvSpPr/>
          <p:nvPr/>
        </p:nvSpPr>
        <p:spPr>
          <a:xfrm>
            <a:off x="0" y="0"/>
            <a:ext cx="12192000" cy="6858000"/>
          </a:xfrm>
          <a:prstGeom prst="rect">
            <a:avLst/>
          </a:prstGeom>
          <a:solidFill>
            <a:srgbClr val="FFFDE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0669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17">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18">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github.com/sejalshir60/EV-Assistant/tree/main" TargetMode="Externa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02540B31-8123-24C6-B0F3-4444B51E9487}"/>
              </a:ext>
            </a:extLst>
          </p:cNvPr>
          <p:cNvPicPr>
            <a:picLocks noChangeAspect="1"/>
          </p:cNvPicPr>
          <p:nvPr/>
        </p:nvPicPr>
        <p:blipFill>
          <a:blip r:embed="rId4"/>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BB9AA95F-56F4-3F03-5804-8F7C6AFCE0BB}"/>
              </a:ext>
            </a:extLst>
          </p:cNvPr>
          <p:cNvSpPr/>
          <p:nvPr/>
        </p:nvSpPr>
        <p:spPr>
          <a:xfrm>
            <a:off x="8687544" y="584200"/>
            <a:ext cx="2110444"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395316D-1E70-9E4D-C82D-DC6493EC4CED}"/>
              </a:ext>
            </a:extLst>
          </p:cNvPr>
          <p:cNvSpPr txBox="1"/>
          <p:nvPr/>
        </p:nvSpPr>
        <p:spPr>
          <a:xfrm>
            <a:off x="4203202" y="2174590"/>
            <a:ext cx="7280118" cy="707886"/>
          </a:xfrm>
          <a:prstGeom prst="rect">
            <a:avLst/>
          </a:prstGeom>
          <a:noFill/>
        </p:spPr>
        <p:txBody>
          <a:bodyPr wrap="square" lIns="91440" tIns="45720" rIns="91440" bIns="45720" rtlCol="0" anchor="t">
            <a:spAutoFit/>
          </a:bodyPr>
          <a:lstStyle/>
          <a:p>
            <a:pPr algn="ctr"/>
            <a:r>
              <a:rPr lang="en-US" sz="4000" b="1" dirty="0">
                <a:solidFill>
                  <a:schemeClr val="bg1"/>
                </a:solidFill>
              </a:rPr>
              <a:t>EV ASSISTANT</a:t>
            </a:r>
          </a:p>
        </p:txBody>
      </p:sp>
      <p:pic>
        <p:nvPicPr>
          <p:cNvPr id="19" name="Picture 18" descr="A close up of a logo&#10;&#10;Description automatically generated">
            <a:extLst>
              <a:ext uri="{FF2B5EF4-FFF2-40B4-BE49-F238E27FC236}">
                <a16:creationId xmlns:a16="http://schemas.microsoft.com/office/drawing/2014/main" id="{2A27540A-9E08-71C9-C49B-6AA04DE6EB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61943" y="867733"/>
            <a:ext cx="1263157" cy="410834"/>
          </a:xfrm>
          <a:prstGeom prst="rect">
            <a:avLst/>
          </a:prstGeom>
        </p:spPr>
      </p:pic>
      <p:sp>
        <p:nvSpPr>
          <p:cNvPr id="2" name="TextBox 1">
            <a:extLst>
              <a:ext uri="{FF2B5EF4-FFF2-40B4-BE49-F238E27FC236}">
                <a16:creationId xmlns:a16="http://schemas.microsoft.com/office/drawing/2014/main" id="{7BC3452E-282B-E1CE-1049-3451E4122F16}"/>
              </a:ext>
            </a:extLst>
          </p:cNvPr>
          <p:cNvSpPr txBox="1"/>
          <p:nvPr/>
        </p:nvSpPr>
        <p:spPr>
          <a:xfrm>
            <a:off x="4760259" y="3494967"/>
            <a:ext cx="6347011" cy="2383025"/>
          </a:xfrm>
          <a:prstGeom prst="rect">
            <a:avLst/>
          </a:prstGeom>
          <a:noFill/>
        </p:spPr>
        <p:txBody>
          <a:bodyPr wrap="square" lIns="91440" tIns="45720" rIns="91440" bIns="45720" rtlCol="0" anchor="t">
            <a:spAutoFit/>
          </a:bodyPr>
          <a:lstStyle/>
          <a:p>
            <a:r>
              <a:rPr lang="en-IN" dirty="0">
                <a:solidFill>
                  <a:schemeClr val="bg1"/>
                </a:solidFill>
              </a:rPr>
              <a:t>Team Lead : Sejal C. Shirsath </a:t>
            </a:r>
          </a:p>
          <a:p>
            <a:r>
              <a:rPr lang="en-IN" sz="1850" dirty="0">
                <a:solidFill>
                  <a:schemeClr val="bg1"/>
                </a:solidFill>
              </a:rPr>
              <a:t>Team Member : Chaitali R. Mahajan</a:t>
            </a:r>
          </a:p>
          <a:p>
            <a:r>
              <a:rPr lang="en-IN" sz="1850" dirty="0">
                <a:solidFill>
                  <a:schemeClr val="bg1"/>
                </a:solidFill>
              </a:rPr>
              <a:t>Team Member : Mohini R. Tupe</a:t>
            </a:r>
          </a:p>
          <a:p>
            <a:endParaRPr lang="en-IN" sz="1850" dirty="0">
              <a:solidFill>
                <a:schemeClr val="bg1"/>
              </a:solidFill>
            </a:endParaRPr>
          </a:p>
          <a:p>
            <a:r>
              <a:rPr lang="en-IN" dirty="0">
                <a:solidFill>
                  <a:schemeClr val="bg1"/>
                </a:solidFill>
              </a:rPr>
              <a:t>Mentor Name :  Prof. Sagar Yadav Sir </a:t>
            </a:r>
          </a:p>
          <a:p>
            <a:endParaRPr lang="en-IN" dirty="0">
              <a:solidFill>
                <a:schemeClr val="bg1"/>
              </a:solidFill>
            </a:endParaRPr>
          </a:p>
          <a:p>
            <a:r>
              <a:rPr lang="en-IN" dirty="0">
                <a:solidFill>
                  <a:schemeClr val="bg1"/>
                </a:solidFill>
              </a:rPr>
              <a:t>College Name : PES’s Modern College of Engineering, 	             Pune</a:t>
            </a:r>
          </a:p>
        </p:txBody>
      </p:sp>
      <p:sp>
        <p:nvSpPr>
          <p:cNvPr id="3" name="TextBox 2">
            <a:extLst>
              <a:ext uri="{FF2B5EF4-FFF2-40B4-BE49-F238E27FC236}">
                <a16:creationId xmlns:a16="http://schemas.microsoft.com/office/drawing/2014/main" id="{7C4A831D-0E37-E921-34F4-C520032FEFCB}"/>
              </a:ext>
            </a:extLst>
          </p:cNvPr>
          <p:cNvSpPr txBox="1"/>
          <p:nvPr/>
        </p:nvSpPr>
        <p:spPr>
          <a:xfrm>
            <a:off x="5000693" y="2806334"/>
            <a:ext cx="6347011" cy="338554"/>
          </a:xfrm>
          <a:prstGeom prst="rect">
            <a:avLst/>
          </a:prstGeom>
          <a:noFill/>
        </p:spPr>
        <p:txBody>
          <a:bodyPr wrap="square" rtlCol="0">
            <a:spAutoFit/>
          </a:bodyPr>
          <a:lstStyle/>
          <a:p>
            <a:r>
              <a:rPr lang="en-US" sz="1600" dirty="0">
                <a:solidFill>
                  <a:schemeClr val="bg1"/>
                </a:solidFill>
              </a:rPr>
              <a:t>Smart, Sustainable &amp; User-Friendly Electric Vehicle Assistant</a:t>
            </a:r>
            <a:endParaRPr lang="en-IN" sz="1600" dirty="0">
              <a:solidFill>
                <a:schemeClr val="bg1"/>
              </a:solidFill>
            </a:endParaRPr>
          </a:p>
        </p:txBody>
      </p:sp>
    </p:spTree>
    <p:custDataLst>
      <p:tags r:id="rId1"/>
    </p:custDataLst>
    <p:extLst>
      <p:ext uri="{BB962C8B-B14F-4D97-AF65-F5344CB8AC3E}">
        <p14:creationId xmlns:p14="http://schemas.microsoft.com/office/powerpoint/2010/main" val="200095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82100C0-8C1F-4181-DD75-D87774F4B05D}"/>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55DF1CE7-F465-D81C-97B0-79E3F2480924}"/>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583006E0-F63C-4BA4-389D-C91A4075610B}"/>
              </a:ext>
            </a:extLst>
          </p:cNvPr>
          <p:cNvSpPr txBox="1">
            <a:spLocks noGrp="1"/>
          </p:cNvSpPr>
          <p:nvPr/>
        </p:nvSpPr>
        <p:spPr>
          <a:xfrm>
            <a:off x="407838" y="873305"/>
            <a:ext cx="5025142" cy="6873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100000"/>
              </a:lnSpc>
              <a:spcBef>
                <a:spcPts val="0"/>
              </a:spcBef>
              <a:spcAft>
                <a:spcPts val="0"/>
              </a:spcAft>
              <a:buSzPts val="2800"/>
              <a:buNone/>
            </a:pPr>
            <a:r>
              <a:rPr lang="en-GB" sz="2000" b="1" dirty="0">
                <a:solidFill>
                  <a:srgbClr val="213163"/>
                </a:solidFill>
              </a:rPr>
              <a:t>Project Objectives</a:t>
            </a:r>
            <a:endParaRPr lang="en-US" sz="2000" dirty="0"/>
          </a:p>
        </p:txBody>
      </p:sp>
      <p:pic>
        <p:nvPicPr>
          <p:cNvPr id="7" name="Picture 6">
            <a:extLst>
              <a:ext uri="{FF2B5EF4-FFF2-40B4-BE49-F238E27FC236}">
                <a16:creationId xmlns:a16="http://schemas.microsoft.com/office/drawing/2014/main" id="{E14668EA-F609-4C8E-7E33-C8D4F3A311A5}"/>
              </a:ext>
            </a:extLst>
          </p:cNvPr>
          <p:cNvPicPr>
            <a:picLocks noChangeAspect="1"/>
          </p:cNvPicPr>
          <p:nvPr/>
        </p:nvPicPr>
        <p:blipFill>
          <a:blip r:embed="rId3"/>
          <a:stretch>
            <a:fillRect/>
          </a:stretch>
        </p:blipFill>
        <p:spPr>
          <a:xfrm>
            <a:off x="7081265" y="1124611"/>
            <a:ext cx="4602826" cy="4613712"/>
          </a:xfrm>
          <a:prstGeom prst="rect">
            <a:avLst/>
          </a:prstGeom>
        </p:spPr>
      </p:pic>
      <p:sp>
        <p:nvSpPr>
          <p:cNvPr id="8" name="Google Shape;62;g5fab984687_2_0">
            <a:extLst>
              <a:ext uri="{FF2B5EF4-FFF2-40B4-BE49-F238E27FC236}">
                <a16:creationId xmlns:a16="http://schemas.microsoft.com/office/drawing/2014/main" id="{761FE11B-F08F-EA24-6ECA-6D0A1BF1E903}"/>
              </a:ext>
            </a:extLst>
          </p:cNvPr>
          <p:cNvSpPr txBox="1"/>
          <p:nvPr/>
        </p:nvSpPr>
        <p:spPr>
          <a:xfrm>
            <a:off x="407838" y="1715981"/>
            <a:ext cx="5369163" cy="31898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82880" indent="-182880">
              <a:lnSpc>
                <a:spcPct val="150000"/>
              </a:lnSpc>
              <a:buFont typeface="Arial" panose="020B0604020202020204" pitchFamily="34" charset="0"/>
              <a:buChar char="•"/>
            </a:pPr>
            <a:r>
              <a:rPr lang="en-US" sz="1600" dirty="0"/>
              <a:t>Problem Statement</a:t>
            </a:r>
            <a:endParaRPr lang="en-US" sz="1100" dirty="0"/>
          </a:p>
          <a:p>
            <a:pPr marL="182880" indent="-182880">
              <a:lnSpc>
                <a:spcPct val="150000"/>
              </a:lnSpc>
              <a:buFont typeface="Arial" panose="020B0604020202020204" pitchFamily="34" charset="0"/>
              <a:buChar char="•"/>
            </a:pPr>
            <a:r>
              <a:rPr lang="en-US" sz="1600" dirty="0"/>
              <a:t>Project Overview – Introduction</a:t>
            </a:r>
          </a:p>
          <a:p>
            <a:pPr marL="182880" indent="-182880">
              <a:lnSpc>
                <a:spcPct val="150000"/>
              </a:lnSpc>
              <a:buFont typeface="Arial" panose="020B0604020202020204" pitchFamily="34" charset="0"/>
              <a:buChar char="•"/>
            </a:pPr>
            <a:r>
              <a:rPr lang="en-US" sz="1600" dirty="0"/>
              <a:t>End Users</a:t>
            </a:r>
          </a:p>
          <a:p>
            <a:pPr marL="182880" indent="-182880">
              <a:lnSpc>
                <a:spcPct val="150000"/>
              </a:lnSpc>
              <a:buFont typeface="Arial" panose="020B0604020202020204" pitchFamily="34" charset="0"/>
              <a:buChar char="•"/>
            </a:pPr>
            <a:r>
              <a:rPr lang="en-US" sz="1600" dirty="0"/>
              <a:t>Wow Factor in Project</a:t>
            </a:r>
          </a:p>
          <a:p>
            <a:pPr marL="182880" indent="-182880">
              <a:lnSpc>
                <a:spcPct val="150000"/>
              </a:lnSpc>
              <a:buFont typeface="Arial" panose="020B0604020202020204" pitchFamily="34" charset="0"/>
              <a:buChar char="•"/>
            </a:pPr>
            <a:r>
              <a:rPr lang="en-US" sz="1600" dirty="0"/>
              <a:t>Modelling/Block Diagram/Flow of Project</a:t>
            </a:r>
          </a:p>
          <a:p>
            <a:pPr marL="182880" indent="-182880">
              <a:lnSpc>
                <a:spcPct val="150000"/>
              </a:lnSpc>
              <a:buFont typeface="Arial" panose="020B0604020202020204" pitchFamily="34" charset="0"/>
              <a:buChar char="•"/>
            </a:pPr>
            <a:r>
              <a:rPr lang="en-US" sz="1600" dirty="0"/>
              <a:t>Result/outcomes</a:t>
            </a:r>
          </a:p>
          <a:p>
            <a:pPr marL="182880" indent="-182880">
              <a:lnSpc>
                <a:spcPct val="150000"/>
              </a:lnSpc>
              <a:buFont typeface="Arial" panose="020B0604020202020204" pitchFamily="34" charset="0"/>
              <a:buChar char="•"/>
            </a:pPr>
            <a:r>
              <a:rPr lang="en-US" sz="1600" dirty="0"/>
              <a:t>Conclusion</a:t>
            </a:r>
          </a:p>
          <a:p>
            <a:pPr marL="182880" indent="-182880">
              <a:lnSpc>
                <a:spcPct val="150000"/>
              </a:lnSpc>
              <a:buFont typeface="Arial" panose="020B0604020202020204" pitchFamily="34" charset="0"/>
              <a:buChar char="•"/>
            </a:pPr>
            <a:r>
              <a:rPr lang="en-US" sz="1600" dirty="0"/>
              <a:t>Future Perspective</a:t>
            </a:r>
          </a:p>
          <a:p>
            <a:pPr marL="182880" indent="-182880">
              <a:buFont typeface="Arial" panose="020B0604020202020204" pitchFamily="34" charset="0"/>
              <a:buChar char="•"/>
            </a:pPr>
            <a:endParaRPr lang="en-US" sz="1100" dirty="0"/>
          </a:p>
        </p:txBody>
      </p:sp>
    </p:spTree>
    <p:extLst>
      <p:ext uri="{BB962C8B-B14F-4D97-AF65-F5344CB8AC3E}">
        <p14:creationId xmlns:p14="http://schemas.microsoft.com/office/powerpoint/2010/main" val="344266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dirty="0">
                <a:solidFill>
                  <a:srgbClr val="213163"/>
                </a:solidFill>
              </a:rPr>
              <a:t>Problem Statement:</a:t>
            </a:r>
            <a:endParaRPr lang="en-US" sz="1850" dirty="0"/>
          </a:p>
        </p:txBody>
      </p:sp>
      <p:sp>
        <p:nvSpPr>
          <p:cNvPr id="3" name="TextBox 2">
            <a:extLst>
              <a:ext uri="{FF2B5EF4-FFF2-40B4-BE49-F238E27FC236}">
                <a16:creationId xmlns:a16="http://schemas.microsoft.com/office/drawing/2014/main" id="{42D5C501-4AE7-CDD3-5782-7209DFBF8A69}"/>
              </a:ext>
            </a:extLst>
          </p:cNvPr>
          <p:cNvSpPr txBox="1"/>
          <p:nvPr/>
        </p:nvSpPr>
        <p:spPr>
          <a:xfrm>
            <a:off x="882127" y="1968650"/>
            <a:ext cx="6594438" cy="1816266"/>
          </a:xfrm>
          <a:prstGeom prst="rect">
            <a:avLst/>
          </a:prstGeom>
          <a:noFill/>
        </p:spPr>
        <p:txBody>
          <a:bodyPr wrap="square" rtlCol="0">
            <a:spAutoFit/>
          </a:bodyPr>
          <a:lstStyle/>
          <a:p>
            <a:pPr algn="just"/>
            <a:r>
              <a:rPr lang="en-US" dirty="0"/>
              <a:t>Electric vehicle users face challenges in choosing suitable EVs, finding nearby charging stations, and estimating charging time. The EV Assistant provides EV recommendations, charging station search, charging time estimation, and FAQs to support efficient and hassle-free EV travel.</a:t>
            </a:r>
            <a:endParaRPr lang="en-IN" dirty="0"/>
          </a:p>
        </p:txBody>
      </p:sp>
      <p:pic>
        <p:nvPicPr>
          <p:cNvPr id="9" name="Picture 8">
            <a:extLst>
              <a:ext uri="{FF2B5EF4-FFF2-40B4-BE49-F238E27FC236}">
                <a16:creationId xmlns:a16="http://schemas.microsoft.com/office/drawing/2014/main" id="{BADCB03D-DC2F-BCC3-A54F-69FAEADAD1F3}"/>
              </a:ext>
            </a:extLst>
          </p:cNvPr>
          <p:cNvPicPr>
            <a:picLocks noChangeAspect="1"/>
          </p:cNvPicPr>
          <p:nvPr/>
        </p:nvPicPr>
        <p:blipFill>
          <a:blip r:embed="rId3">
            <a:alphaModFix amt="5000"/>
          </a:blip>
          <a:stretch>
            <a:fillRect/>
          </a:stretch>
        </p:blipFill>
        <p:spPr>
          <a:xfrm>
            <a:off x="10162" y="4762473"/>
            <a:ext cx="12192000" cy="2245979"/>
          </a:xfrm>
          <a:prstGeom prst="rect">
            <a:avLst/>
          </a:prstGeom>
        </p:spPr>
      </p:pic>
      <p:pic>
        <p:nvPicPr>
          <p:cNvPr id="15" name="Picture 14">
            <a:extLst>
              <a:ext uri="{FF2B5EF4-FFF2-40B4-BE49-F238E27FC236}">
                <a16:creationId xmlns:a16="http://schemas.microsoft.com/office/drawing/2014/main" id="{18EC9D8E-C9E8-155C-8348-838E87964299}"/>
              </a:ext>
            </a:extLst>
          </p:cNvPr>
          <p:cNvPicPr>
            <a:picLocks noChangeAspect="1"/>
          </p:cNvPicPr>
          <p:nvPr/>
        </p:nvPicPr>
        <p:blipFill>
          <a:blip r:embed="rId4"/>
          <a:stretch>
            <a:fillRect/>
          </a:stretch>
        </p:blipFill>
        <p:spPr>
          <a:xfrm>
            <a:off x="8690641" y="1870770"/>
            <a:ext cx="2554209" cy="2389652"/>
          </a:xfrm>
          <a:prstGeom prst="rect">
            <a:avLst/>
          </a:prstGeom>
        </p:spPr>
      </p:pic>
      <p:pic>
        <p:nvPicPr>
          <p:cNvPr id="17" name="Picture 16">
            <a:extLst>
              <a:ext uri="{FF2B5EF4-FFF2-40B4-BE49-F238E27FC236}">
                <a16:creationId xmlns:a16="http://schemas.microsoft.com/office/drawing/2014/main" id="{C441F1E0-AEC2-B3A1-6417-BFFDE1F47A5B}"/>
              </a:ext>
            </a:extLst>
          </p:cNvPr>
          <p:cNvPicPr>
            <a:picLocks noChangeAspect="1"/>
          </p:cNvPicPr>
          <p:nvPr/>
        </p:nvPicPr>
        <p:blipFill>
          <a:blip r:embed="rId5"/>
          <a:stretch>
            <a:fillRect/>
          </a:stretch>
        </p:blipFill>
        <p:spPr>
          <a:xfrm>
            <a:off x="10833590" y="4071213"/>
            <a:ext cx="1166766" cy="1166766"/>
          </a:xfrm>
          <a:prstGeom prst="rect">
            <a:avLst/>
          </a:prstGeom>
        </p:spPr>
      </p:pic>
      <p:pic>
        <p:nvPicPr>
          <p:cNvPr id="19" name="Picture 18">
            <a:extLst>
              <a:ext uri="{FF2B5EF4-FFF2-40B4-BE49-F238E27FC236}">
                <a16:creationId xmlns:a16="http://schemas.microsoft.com/office/drawing/2014/main" id="{38408B71-38D9-A1BD-DDCA-1B9F2F26FC55}"/>
              </a:ext>
            </a:extLst>
          </p:cNvPr>
          <p:cNvPicPr>
            <a:picLocks noChangeAspect="1"/>
          </p:cNvPicPr>
          <p:nvPr/>
        </p:nvPicPr>
        <p:blipFill>
          <a:blip r:embed="rId6"/>
          <a:stretch>
            <a:fillRect/>
          </a:stretch>
        </p:blipFill>
        <p:spPr>
          <a:xfrm>
            <a:off x="7798204" y="1178059"/>
            <a:ext cx="1273005" cy="1211265"/>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CFA96E3-C7EB-55DF-2AA8-2936B30AF5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BEBBBA-5CF4-5202-786C-054FC76F51FF}"/>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dirty="0">
                <a:solidFill>
                  <a:srgbClr val="213163"/>
                </a:solidFill>
              </a:rPr>
              <a:t>Project Overview - Introduction</a:t>
            </a:r>
            <a:endParaRPr lang="en-US" sz="1850" dirty="0"/>
          </a:p>
        </p:txBody>
      </p:sp>
      <p:sp>
        <p:nvSpPr>
          <p:cNvPr id="3" name="TextBox 2">
            <a:extLst>
              <a:ext uri="{FF2B5EF4-FFF2-40B4-BE49-F238E27FC236}">
                <a16:creationId xmlns:a16="http://schemas.microsoft.com/office/drawing/2014/main" id="{65BAC386-9D0D-C608-3AD9-BAEF2804C0B8}"/>
              </a:ext>
            </a:extLst>
          </p:cNvPr>
          <p:cNvSpPr txBox="1"/>
          <p:nvPr/>
        </p:nvSpPr>
        <p:spPr>
          <a:xfrm>
            <a:off x="917986" y="2071445"/>
            <a:ext cx="6788075" cy="3416320"/>
          </a:xfrm>
          <a:prstGeom prst="rect">
            <a:avLst/>
          </a:prstGeom>
          <a:noFill/>
        </p:spPr>
        <p:txBody>
          <a:bodyPr wrap="square" rtlCol="0">
            <a:spAutoFit/>
          </a:bodyPr>
          <a:lstStyle/>
          <a:p>
            <a:pPr algn="just"/>
            <a:r>
              <a:rPr lang="en-US" sz="1800" dirty="0"/>
              <a:t>With the rapid adoption of Electric Vehicles (EVs), users     often face challenges related to vehicle selection, trip planning, charging station availability, and charging time estimation. Lack of proper guidance leads to range anxiety and inefficient travel planning. The EV Assistant is an intelligent, user-friendly web application developed using Streamlit that helps EV users make informed decisions. The system provides EV recommendations, nearby charging station search, charging time estimation, and an interactive FAQ chatbot. By integrating data analytics and machine learning techniques, the EV Assistant simplifies EV ownership and promotes sustainable transportation.</a:t>
            </a:r>
          </a:p>
          <a:p>
            <a:endParaRPr lang="en-IN" sz="1800" dirty="0"/>
          </a:p>
        </p:txBody>
      </p:sp>
      <p:pic>
        <p:nvPicPr>
          <p:cNvPr id="9" name="Picture 8">
            <a:extLst>
              <a:ext uri="{FF2B5EF4-FFF2-40B4-BE49-F238E27FC236}">
                <a16:creationId xmlns:a16="http://schemas.microsoft.com/office/drawing/2014/main" id="{0E09F0A5-218D-6F33-1EFF-8C2F2FB5FF15}"/>
              </a:ext>
            </a:extLst>
          </p:cNvPr>
          <p:cNvPicPr>
            <a:picLocks noChangeAspect="1"/>
          </p:cNvPicPr>
          <p:nvPr/>
        </p:nvPicPr>
        <p:blipFill>
          <a:blip r:embed="rId3"/>
          <a:stretch>
            <a:fillRect/>
          </a:stretch>
        </p:blipFill>
        <p:spPr>
          <a:xfrm>
            <a:off x="6602488" y="2307515"/>
            <a:ext cx="6824363" cy="4550485"/>
          </a:xfrm>
          <a:prstGeom prst="rect">
            <a:avLst/>
          </a:prstGeom>
        </p:spPr>
      </p:pic>
    </p:spTree>
    <p:extLst>
      <p:ext uri="{BB962C8B-B14F-4D97-AF65-F5344CB8AC3E}">
        <p14:creationId xmlns:p14="http://schemas.microsoft.com/office/powerpoint/2010/main" val="4094747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2ED5FB8-425A-4665-42F5-5CC706CCA9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9B8291-8A2E-40AC-9C88-A70F47D7B60C}"/>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dirty="0">
                <a:solidFill>
                  <a:srgbClr val="213163"/>
                </a:solidFill>
              </a:rPr>
              <a:t>End Users</a:t>
            </a:r>
            <a:endParaRPr lang="en-US" dirty="0"/>
          </a:p>
        </p:txBody>
      </p:sp>
      <p:sp>
        <p:nvSpPr>
          <p:cNvPr id="4" name="Rectangle 1">
            <a:extLst>
              <a:ext uri="{FF2B5EF4-FFF2-40B4-BE49-F238E27FC236}">
                <a16:creationId xmlns:a16="http://schemas.microsoft.com/office/drawing/2014/main" id="{A4E4D3AA-71E5-26E4-0A0D-F2350B4B8EB9}"/>
              </a:ext>
            </a:extLst>
          </p:cNvPr>
          <p:cNvSpPr>
            <a:spLocks noChangeArrowheads="1"/>
          </p:cNvSpPr>
          <p:nvPr/>
        </p:nvSpPr>
        <p:spPr bwMode="auto">
          <a:xfrm rot="10800000" flipV="1">
            <a:off x="959784" y="2449660"/>
            <a:ext cx="481707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Electric Vehicle owners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First-time EV buyers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Long-distance EV travelers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Fleet managers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Students &amp; researchers studying EV systems</a:t>
            </a:r>
          </a:p>
        </p:txBody>
      </p:sp>
      <p:pic>
        <p:nvPicPr>
          <p:cNvPr id="10" name="Picture 9">
            <a:extLst>
              <a:ext uri="{FF2B5EF4-FFF2-40B4-BE49-F238E27FC236}">
                <a16:creationId xmlns:a16="http://schemas.microsoft.com/office/drawing/2014/main" id="{515AF6C9-D184-2B31-1606-9D72B77901F0}"/>
              </a:ext>
            </a:extLst>
          </p:cNvPr>
          <p:cNvPicPr>
            <a:picLocks noChangeAspect="1"/>
          </p:cNvPicPr>
          <p:nvPr/>
        </p:nvPicPr>
        <p:blipFill>
          <a:blip r:embed="rId3"/>
          <a:stretch>
            <a:fillRect/>
          </a:stretch>
        </p:blipFill>
        <p:spPr>
          <a:xfrm>
            <a:off x="5486400" y="1749779"/>
            <a:ext cx="6106667" cy="4068567"/>
          </a:xfrm>
          <a:prstGeom prst="rect">
            <a:avLst/>
          </a:prstGeom>
          <a:ln>
            <a:solidFill>
              <a:schemeClr val="tx1"/>
            </a:solidFill>
          </a:ln>
        </p:spPr>
      </p:pic>
      <p:sp>
        <p:nvSpPr>
          <p:cNvPr id="11" name="TextBox 10">
            <a:extLst>
              <a:ext uri="{FF2B5EF4-FFF2-40B4-BE49-F238E27FC236}">
                <a16:creationId xmlns:a16="http://schemas.microsoft.com/office/drawing/2014/main" id="{1D17D336-B08C-D743-8634-D948F51A0333}"/>
              </a:ext>
            </a:extLst>
          </p:cNvPr>
          <p:cNvSpPr txBox="1"/>
          <p:nvPr/>
        </p:nvSpPr>
        <p:spPr>
          <a:xfrm>
            <a:off x="6184973" y="4236607"/>
            <a:ext cx="96820" cy="276999"/>
          </a:xfrm>
          <a:prstGeom prst="rect">
            <a:avLst/>
          </a:prstGeom>
          <a:noFill/>
        </p:spPr>
        <p:txBody>
          <a:bodyPr wrap="square" rtlCol="0">
            <a:spAutoFit/>
          </a:bodyPr>
          <a:lstStyle/>
          <a:p>
            <a:r>
              <a:rPr lang="en-US" sz="1200" dirty="0">
                <a:solidFill>
                  <a:schemeClr val="accent5">
                    <a:lumMod val="50000"/>
                  </a:schemeClr>
                </a:solidFill>
                <a:highlight>
                  <a:srgbClr val="F9FFEB"/>
                </a:highlight>
              </a:rPr>
              <a:t>h</a:t>
            </a:r>
            <a:endParaRPr lang="en-IN" sz="1200" dirty="0">
              <a:solidFill>
                <a:schemeClr val="accent5">
                  <a:lumMod val="50000"/>
                </a:schemeClr>
              </a:solidFill>
              <a:highlight>
                <a:srgbClr val="F9FFEB"/>
              </a:highlight>
            </a:endParaRPr>
          </a:p>
        </p:txBody>
      </p:sp>
    </p:spTree>
    <p:extLst>
      <p:ext uri="{BB962C8B-B14F-4D97-AF65-F5344CB8AC3E}">
        <p14:creationId xmlns:p14="http://schemas.microsoft.com/office/powerpoint/2010/main" val="3284349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3201705-0A2B-4BCF-297B-D9722E1CC7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5BFC9B-AE6E-0231-F153-9FA6A53336DE}"/>
              </a:ext>
            </a:extLst>
          </p:cNvPr>
          <p:cNvSpPr txBox="1"/>
          <p:nvPr/>
        </p:nvSpPr>
        <p:spPr>
          <a:xfrm>
            <a:off x="434019" y="972537"/>
            <a:ext cx="5904091" cy="400110"/>
          </a:xfrm>
          <a:prstGeom prst="rect">
            <a:avLst/>
          </a:prstGeom>
          <a:noFill/>
        </p:spPr>
        <p:txBody>
          <a:bodyPr wrap="square" lIns="91440" tIns="45720" rIns="91440" bIns="45720" anchor="t">
            <a:spAutoFit/>
          </a:bodyPr>
          <a:lstStyle/>
          <a:p>
            <a:r>
              <a:rPr lang="en-IN" sz="2000" b="1" dirty="0">
                <a:solidFill>
                  <a:srgbClr val="213163"/>
                </a:solidFill>
              </a:rPr>
              <a:t>Wow Factors in Project</a:t>
            </a:r>
            <a:endParaRPr lang="en-US" dirty="0"/>
          </a:p>
        </p:txBody>
      </p:sp>
      <p:sp>
        <p:nvSpPr>
          <p:cNvPr id="4" name="Rectangle 1">
            <a:extLst>
              <a:ext uri="{FF2B5EF4-FFF2-40B4-BE49-F238E27FC236}">
                <a16:creationId xmlns:a16="http://schemas.microsoft.com/office/drawing/2014/main" id="{B55585A4-FBF6-5D46-63A4-A3086D1A4B4E}"/>
              </a:ext>
            </a:extLst>
          </p:cNvPr>
          <p:cNvSpPr>
            <a:spLocks noChangeArrowheads="1"/>
          </p:cNvSpPr>
          <p:nvPr/>
        </p:nvSpPr>
        <p:spPr bwMode="auto">
          <a:xfrm>
            <a:off x="830195" y="1638146"/>
            <a:ext cx="550791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All-in-one EV Assistant on a single platform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EV Recommendation System using similarity analysis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Location-based charging station search with distance calculation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Charging Time Estimator for trip planning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Smart FAQ Chatbot for instant EV knowledge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Eco-friendly green UI theme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No complex setup – web-based &amp; interactive</a:t>
            </a:r>
          </a:p>
        </p:txBody>
      </p:sp>
      <p:pic>
        <p:nvPicPr>
          <p:cNvPr id="16" name="Picture 15">
            <a:extLst>
              <a:ext uri="{FF2B5EF4-FFF2-40B4-BE49-F238E27FC236}">
                <a16:creationId xmlns:a16="http://schemas.microsoft.com/office/drawing/2014/main" id="{8802E807-D87D-C9B6-661D-B039C8712E57}"/>
              </a:ext>
            </a:extLst>
          </p:cNvPr>
          <p:cNvPicPr>
            <a:picLocks noChangeAspect="1"/>
          </p:cNvPicPr>
          <p:nvPr/>
        </p:nvPicPr>
        <p:blipFill>
          <a:blip r:embed="rId3"/>
          <a:stretch>
            <a:fillRect/>
          </a:stretch>
        </p:blipFill>
        <p:spPr>
          <a:xfrm>
            <a:off x="5830645" y="3535255"/>
            <a:ext cx="5834666" cy="2615707"/>
          </a:xfrm>
          <a:prstGeom prst="rect">
            <a:avLst/>
          </a:prstGeom>
        </p:spPr>
      </p:pic>
      <p:sp>
        <p:nvSpPr>
          <p:cNvPr id="17" name="Rectangle: Rounded Corners 16">
            <a:extLst>
              <a:ext uri="{FF2B5EF4-FFF2-40B4-BE49-F238E27FC236}">
                <a16:creationId xmlns:a16="http://schemas.microsoft.com/office/drawing/2014/main" id="{605B75CD-0519-9160-4B5F-713571BD0D56}"/>
              </a:ext>
            </a:extLst>
          </p:cNvPr>
          <p:cNvSpPr/>
          <p:nvPr/>
        </p:nvSpPr>
        <p:spPr>
          <a:xfrm>
            <a:off x="5938221" y="4464424"/>
            <a:ext cx="1011219" cy="31197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821CF591-16DB-406C-CFF8-ED9EB0D230A8}"/>
              </a:ext>
            </a:extLst>
          </p:cNvPr>
          <p:cNvSpPr/>
          <p:nvPr/>
        </p:nvSpPr>
        <p:spPr>
          <a:xfrm>
            <a:off x="6725322" y="3811582"/>
            <a:ext cx="1246094" cy="34424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B0C09928-EFF0-838C-B83C-2808467F8252}"/>
              </a:ext>
            </a:extLst>
          </p:cNvPr>
          <p:cNvSpPr/>
          <p:nvPr/>
        </p:nvSpPr>
        <p:spPr>
          <a:xfrm>
            <a:off x="10178527" y="3811581"/>
            <a:ext cx="1011219" cy="31197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27CB5B9A-DED8-384B-976D-12642A2FBED1}"/>
              </a:ext>
            </a:extLst>
          </p:cNvPr>
          <p:cNvSpPr/>
          <p:nvPr/>
        </p:nvSpPr>
        <p:spPr>
          <a:xfrm>
            <a:off x="11234570" y="4464423"/>
            <a:ext cx="878542" cy="40879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37326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DA83078-77BF-8732-F35D-B5E0418E30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43A1D2-BA94-C28C-CC33-20F2A8CBF8E6}"/>
              </a:ext>
            </a:extLst>
          </p:cNvPr>
          <p:cNvSpPr txBox="1"/>
          <p:nvPr/>
        </p:nvSpPr>
        <p:spPr>
          <a:xfrm>
            <a:off x="444648" y="1143931"/>
            <a:ext cx="5904091" cy="400110"/>
          </a:xfrm>
          <a:prstGeom prst="rect">
            <a:avLst/>
          </a:prstGeom>
          <a:noFill/>
        </p:spPr>
        <p:txBody>
          <a:bodyPr wrap="square" lIns="91440" tIns="45720" rIns="91440" bIns="45720" anchor="t">
            <a:spAutoFit/>
          </a:bodyPr>
          <a:lstStyle/>
          <a:p>
            <a:r>
              <a:rPr lang="en-IN" sz="2000" b="1" dirty="0">
                <a:solidFill>
                  <a:srgbClr val="213163"/>
                </a:solidFill>
              </a:rPr>
              <a:t>Modelling/Block Diagram/Flow of Project</a:t>
            </a:r>
            <a:endParaRPr lang="en-US" dirty="0"/>
          </a:p>
        </p:txBody>
      </p:sp>
      <p:sp>
        <p:nvSpPr>
          <p:cNvPr id="4" name="Rectangle 3">
            <a:extLst>
              <a:ext uri="{FF2B5EF4-FFF2-40B4-BE49-F238E27FC236}">
                <a16:creationId xmlns:a16="http://schemas.microsoft.com/office/drawing/2014/main" id="{EB062AAB-CBE3-D713-AAAC-D5103D5BD717}"/>
              </a:ext>
            </a:extLst>
          </p:cNvPr>
          <p:cNvSpPr/>
          <p:nvPr/>
        </p:nvSpPr>
        <p:spPr>
          <a:xfrm>
            <a:off x="1457476" y="2911806"/>
            <a:ext cx="899460" cy="1072247"/>
          </a:xfrm>
          <a:prstGeom prst="rect">
            <a:avLst/>
          </a:prstGeom>
          <a:solidFill>
            <a:srgbClr val="7FB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lumMod val="95000"/>
                    <a:lumOff val="5000"/>
                  </a:schemeClr>
                </a:solidFill>
              </a:rPr>
              <a:t>Load EV, Station &amp; FAQ  Datasets</a:t>
            </a:r>
          </a:p>
        </p:txBody>
      </p:sp>
      <p:sp>
        <p:nvSpPr>
          <p:cNvPr id="5" name="Rectangle 4">
            <a:extLst>
              <a:ext uri="{FF2B5EF4-FFF2-40B4-BE49-F238E27FC236}">
                <a16:creationId xmlns:a16="http://schemas.microsoft.com/office/drawing/2014/main" id="{698DD82E-B03D-E400-CFFB-89C8947B5819}"/>
              </a:ext>
            </a:extLst>
          </p:cNvPr>
          <p:cNvSpPr/>
          <p:nvPr/>
        </p:nvSpPr>
        <p:spPr>
          <a:xfrm>
            <a:off x="2536773" y="2873941"/>
            <a:ext cx="1058272" cy="1110115"/>
          </a:xfrm>
          <a:prstGeom prst="rect">
            <a:avLst/>
          </a:prstGeom>
          <a:solidFill>
            <a:srgbClr val="7FB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solidFill>
                  <a:schemeClr val="tx1">
                    <a:lumMod val="95000"/>
                    <a:lumOff val="5000"/>
                  </a:schemeClr>
                </a:solidFill>
              </a:rPr>
              <a:t>Data Preprocessing       (Cleaning &amp; Scaling)</a:t>
            </a:r>
          </a:p>
        </p:txBody>
      </p:sp>
      <p:sp>
        <p:nvSpPr>
          <p:cNvPr id="6" name="Rectangle 5">
            <a:extLst>
              <a:ext uri="{FF2B5EF4-FFF2-40B4-BE49-F238E27FC236}">
                <a16:creationId xmlns:a16="http://schemas.microsoft.com/office/drawing/2014/main" id="{34046AAD-DDDF-9F4A-9030-8A15EE83A45D}"/>
              </a:ext>
            </a:extLst>
          </p:cNvPr>
          <p:cNvSpPr/>
          <p:nvPr/>
        </p:nvSpPr>
        <p:spPr>
          <a:xfrm>
            <a:off x="3752246" y="2843945"/>
            <a:ext cx="899462" cy="111962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95000"/>
                    <a:lumOff val="5000"/>
                  </a:schemeClr>
                </a:solidFill>
              </a:rPr>
              <a:t>User Selects Module      (EV / Station / Time  FAQ)</a:t>
            </a:r>
            <a:endParaRPr lang="en-IN" sz="1050" dirty="0">
              <a:solidFill>
                <a:schemeClr val="tx1">
                  <a:lumMod val="95000"/>
                  <a:lumOff val="5000"/>
                </a:schemeClr>
              </a:solidFill>
            </a:endParaRPr>
          </a:p>
        </p:txBody>
      </p:sp>
      <p:sp>
        <p:nvSpPr>
          <p:cNvPr id="7" name="Rectangle 6">
            <a:extLst>
              <a:ext uri="{FF2B5EF4-FFF2-40B4-BE49-F238E27FC236}">
                <a16:creationId xmlns:a16="http://schemas.microsoft.com/office/drawing/2014/main" id="{0E80F364-1952-2221-159A-A243C2ADF004}"/>
              </a:ext>
            </a:extLst>
          </p:cNvPr>
          <p:cNvSpPr/>
          <p:nvPr/>
        </p:nvSpPr>
        <p:spPr>
          <a:xfrm>
            <a:off x="4765260" y="3933568"/>
            <a:ext cx="1609160" cy="849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95000"/>
                    <a:lumOff val="5000"/>
                  </a:schemeClr>
                </a:solidFill>
              </a:rPr>
              <a:t>EV Recommendation Model</a:t>
            </a:r>
            <a:endParaRPr lang="en-IN" sz="1100" dirty="0">
              <a:solidFill>
                <a:schemeClr val="tx1">
                  <a:lumMod val="95000"/>
                  <a:lumOff val="5000"/>
                </a:schemeClr>
              </a:solidFill>
            </a:endParaRPr>
          </a:p>
        </p:txBody>
      </p:sp>
      <p:sp>
        <p:nvSpPr>
          <p:cNvPr id="8" name="Rectangle 7">
            <a:extLst>
              <a:ext uri="{FF2B5EF4-FFF2-40B4-BE49-F238E27FC236}">
                <a16:creationId xmlns:a16="http://schemas.microsoft.com/office/drawing/2014/main" id="{EF874801-2D39-7494-769E-ED3C8B1CB2FC}"/>
              </a:ext>
            </a:extLst>
          </p:cNvPr>
          <p:cNvSpPr/>
          <p:nvPr/>
        </p:nvSpPr>
        <p:spPr>
          <a:xfrm>
            <a:off x="4739579" y="2024087"/>
            <a:ext cx="1609160" cy="849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Charging Station Finder</a:t>
            </a:r>
            <a:endParaRPr lang="en-IN" sz="1200" dirty="0">
              <a:solidFill>
                <a:schemeClr val="tx1">
                  <a:lumMod val="95000"/>
                  <a:lumOff val="5000"/>
                </a:schemeClr>
              </a:solidFill>
            </a:endParaRPr>
          </a:p>
        </p:txBody>
      </p:sp>
      <p:sp>
        <p:nvSpPr>
          <p:cNvPr id="9" name="Rectangle 8">
            <a:extLst>
              <a:ext uri="{FF2B5EF4-FFF2-40B4-BE49-F238E27FC236}">
                <a16:creationId xmlns:a16="http://schemas.microsoft.com/office/drawing/2014/main" id="{1BF03A02-7279-9200-8F81-16B13E64E447}"/>
              </a:ext>
            </a:extLst>
          </p:cNvPr>
          <p:cNvSpPr/>
          <p:nvPr/>
        </p:nvSpPr>
        <p:spPr>
          <a:xfrm>
            <a:off x="6531621" y="2384682"/>
            <a:ext cx="1140310" cy="527125"/>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95000"/>
                    <a:lumOff val="5000"/>
                  </a:schemeClr>
                </a:solidFill>
              </a:rPr>
              <a:t>Nearest Station Found </a:t>
            </a:r>
            <a:endParaRPr lang="en-IN" sz="1050" dirty="0">
              <a:solidFill>
                <a:schemeClr val="tx1">
                  <a:lumMod val="95000"/>
                  <a:lumOff val="5000"/>
                </a:schemeClr>
              </a:solidFill>
            </a:endParaRPr>
          </a:p>
        </p:txBody>
      </p:sp>
      <p:sp>
        <p:nvSpPr>
          <p:cNvPr id="10" name="Rectangle 9">
            <a:extLst>
              <a:ext uri="{FF2B5EF4-FFF2-40B4-BE49-F238E27FC236}">
                <a16:creationId xmlns:a16="http://schemas.microsoft.com/office/drawing/2014/main" id="{5BAA3CC2-56AD-32B3-C543-4826D2D67922}"/>
              </a:ext>
            </a:extLst>
          </p:cNvPr>
          <p:cNvSpPr/>
          <p:nvPr/>
        </p:nvSpPr>
        <p:spPr>
          <a:xfrm>
            <a:off x="6531621" y="3831370"/>
            <a:ext cx="1139616" cy="527125"/>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95000"/>
                    <a:lumOff val="5000"/>
                  </a:schemeClr>
                </a:solidFill>
              </a:rPr>
              <a:t>Similar EV’s Displayed</a:t>
            </a:r>
            <a:endParaRPr lang="en-IN" sz="1050" dirty="0">
              <a:solidFill>
                <a:schemeClr val="tx1">
                  <a:lumMod val="95000"/>
                  <a:lumOff val="5000"/>
                </a:schemeClr>
              </a:solidFill>
            </a:endParaRPr>
          </a:p>
        </p:txBody>
      </p:sp>
      <p:sp>
        <p:nvSpPr>
          <p:cNvPr id="11" name="Rectangle 10">
            <a:extLst>
              <a:ext uri="{FF2B5EF4-FFF2-40B4-BE49-F238E27FC236}">
                <a16:creationId xmlns:a16="http://schemas.microsoft.com/office/drawing/2014/main" id="{A4285EB8-6BC9-786D-6AC6-6CAF50886A7C}"/>
              </a:ext>
            </a:extLst>
          </p:cNvPr>
          <p:cNvSpPr/>
          <p:nvPr/>
        </p:nvSpPr>
        <p:spPr>
          <a:xfrm>
            <a:off x="7935120" y="2918421"/>
            <a:ext cx="948057" cy="847165"/>
          </a:xfrm>
          <a:prstGeom prst="rect">
            <a:avLst/>
          </a:prstGeom>
          <a:solidFill>
            <a:srgbClr val="7FB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Charging Time Model</a:t>
            </a:r>
            <a:endParaRPr lang="en-IN" sz="1200" dirty="0">
              <a:solidFill>
                <a:schemeClr val="tx1">
                  <a:lumMod val="95000"/>
                  <a:lumOff val="5000"/>
                </a:schemeClr>
              </a:solidFill>
            </a:endParaRPr>
          </a:p>
        </p:txBody>
      </p:sp>
      <p:sp>
        <p:nvSpPr>
          <p:cNvPr id="12" name="Rectangle 11">
            <a:extLst>
              <a:ext uri="{FF2B5EF4-FFF2-40B4-BE49-F238E27FC236}">
                <a16:creationId xmlns:a16="http://schemas.microsoft.com/office/drawing/2014/main" id="{36E00A2F-23B1-6CE9-2544-9563C6E126AC}"/>
              </a:ext>
            </a:extLst>
          </p:cNvPr>
          <p:cNvSpPr/>
          <p:nvPr/>
        </p:nvSpPr>
        <p:spPr>
          <a:xfrm>
            <a:off x="9158432" y="2805878"/>
            <a:ext cx="839096" cy="1072249"/>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95000"/>
                    <a:lumOff val="5000"/>
                  </a:schemeClr>
                </a:solidFill>
              </a:rPr>
              <a:t>Estimate Charging Time</a:t>
            </a:r>
            <a:endParaRPr lang="en-IN" sz="1050" dirty="0">
              <a:solidFill>
                <a:schemeClr val="tx1">
                  <a:lumMod val="95000"/>
                  <a:lumOff val="5000"/>
                </a:schemeClr>
              </a:solidFill>
            </a:endParaRPr>
          </a:p>
        </p:txBody>
      </p:sp>
      <p:sp>
        <p:nvSpPr>
          <p:cNvPr id="13" name="Rectangle 12">
            <a:extLst>
              <a:ext uri="{FF2B5EF4-FFF2-40B4-BE49-F238E27FC236}">
                <a16:creationId xmlns:a16="http://schemas.microsoft.com/office/drawing/2014/main" id="{090BBEF2-583D-9F6B-FEEC-AC9F9FDC774E}"/>
              </a:ext>
            </a:extLst>
          </p:cNvPr>
          <p:cNvSpPr/>
          <p:nvPr/>
        </p:nvSpPr>
        <p:spPr>
          <a:xfrm>
            <a:off x="10234966" y="3140817"/>
            <a:ext cx="602428" cy="402369"/>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95000"/>
                    <a:lumOff val="5000"/>
                  </a:schemeClr>
                </a:solidFill>
              </a:rPr>
              <a:t>FAQ’s</a:t>
            </a:r>
            <a:endParaRPr lang="en-IN" sz="1100" dirty="0">
              <a:solidFill>
                <a:schemeClr val="tx1">
                  <a:lumMod val="95000"/>
                  <a:lumOff val="5000"/>
                </a:schemeClr>
              </a:solidFill>
            </a:endParaRPr>
          </a:p>
        </p:txBody>
      </p:sp>
      <p:sp>
        <p:nvSpPr>
          <p:cNvPr id="15" name="Rectangle: Rounded Corners 14">
            <a:extLst>
              <a:ext uri="{FF2B5EF4-FFF2-40B4-BE49-F238E27FC236}">
                <a16:creationId xmlns:a16="http://schemas.microsoft.com/office/drawing/2014/main" id="{DA94A7C5-2487-1EFD-3743-8E315778DBE2}"/>
              </a:ext>
            </a:extLst>
          </p:cNvPr>
          <p:cNvSpPr/>
          <p:nvPr/>
        </p:nvSpPr>
        <p:spPr>
          <a:xfrm>
            <a:off x="11209468" y="3168232"/>
            <a:ext cx="774933" cy="347537"/>
          </a:xfrm>
          <a:prstGeom prst="roundRect">
            <a:avLst/>
          </a:prstGeom>
          <a:solidFill>
            <a:srgbClr val="25BD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rPr>
              <a:t>END</a:t>
            </a:r>
            <a:endParaRPr lang="en-IN" sz="1200" b="1" dirty="0">
              <a:solidFill>
                <a:schemeClr val="tx1">
                  <a:lumMod val="95000"/>
                  <a:lumOff val="5000"/>
                </a:schemeClr>
              </a:solidFill>
            </a:endParaRPr>
          </a:p>
        </p:txBody>
      </p:sp>
      <p:sp>
        <p:nvSpPr>
          <p:cNvPr id="16" name="Rectangle: Rounded Corners 15">
            <a:extLst>
              <a:ext uri="{FF2B5EF4-FFF2-40B4-BE49-F238E27FC236}">
                <a16:creationId xmlns:a16="http://schemas.microsoft.com/office/drawing/2014/main" id="{1945977F-98B7-F4A4-412A-DBD81187361E}"/>
              </a:ext>
            </a:extLst>
          </p:cNvPr>
          <p:cNvSpPr/>
          <p:nvPr/>
        </p:nvSpPr>
        <p:spPr>
          <a:xfrm>
            <a:off x="342452" y="3247463"/>
            <a:ext cx="914400" cy="363070"/>
          </a:xfrm>
          <a:prstGeom prst="roundRect">
            <a:avLst/>
          </a:prstGeom>
          <a:solidFill>
            <a:srgbClr val="25BD37"/>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200" b="1" dirty="0">
                <a:solidFill>
                  <a:schemeClr val="tx1">
                    <a:lumMod val="95000"/>
                    <a:lumOff val="5000"/>
                  </a:schemeClr>
                </a:solidFill>
              </a:rPr>
              <a:t>START</a:t>
            </a:r>
            <a:endParaRPr lang="en-IN" sz="1200" b="1"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AD1BAAFD-28CF-448A-1B9F-F056B0B5F50D}"/>
              </a:ext>
            </a:extLst>
          </p:cNvPr>
          <p:cNvCxnSpPr>
            <a:cxnSpLocks/>
            <a:stCxn id="16" idx="3"/>
            <a:endCxn id="4" idx="1"/>
          </p:cNvCxnSpPr>
          <p:nvPr/>
        </p:nvCxnSpPr>
        <p:spPr>
          <a:xfrm>
            <a:off x="1256852" y="3428998"/>
            <a:ext cx="200624" cy="189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7130B9F-8905-A40B-4F04-E5388C332670}"/>
              </a:ext>
            </a:extLst>
          </p:cNvPr>
          <p:cNvCxnSpPr>
            <a:cxnSpLocks/>
            <a:stCxn id="4" idx="3"/>
            <a:endCxn id="5" idx="1"/>
          </p:cNvCxnSpPr>
          <p:nvPr/>
        </p:nvCxnSpPr>
        <p:spPr>
          <a:xfrm flipV="1">
            <a:off x="2356936" y="3428999"/>
            <a:ext cx="179837" cy="18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9E2056F-077E-18BB-B2C5-855A460CC921}"/>
              </a:ext>
            </a:extLst>
          </p:cNvPr>
          <p:cNvCxnSpPr>
            <a:cxnSpLocks/>
            <a:stCxn id="5" idx="3"/>
            <a:endCxn id="6" idx="1"/>
          </p:cNvCxnSpPr>
          <p:nvPr/>
        </p:nvCxnSpPr>
        <p:spPr>
          <a:xfrm flipV="1">
            <a:off x="3595045" y="3403755"/>
            <a:ext cx="157201" cy="252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F578668E-F4BE-6D55-007B-27DA8220E663}"/>
              </a:ext>
            </a:extLst>
          </p:cNvPr>
          <p:cNvCxnSpPr>
            <a:stCxn id="9" idx="3"/>
            <a:endCxn id="11" idx="0"/>
          </p:cNvCxnSpPr>
          <p:nvPr/>
        </p:nvCxnSpPr>
        <p:spPr>
          <a:xfrm>
            <a:off x="7671931" y="2648245"/>
            <a:ext cx="737218" cy="270176"/>
          </a:xfrm>
          <a:prstGeom prst="bentConnector2">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E73F84FD-5CC7-7741-A7FC-7D8D5191F413}"/>
              </a:ext>
            </a:extLst>
          </p:cNvPr>
          <p:cNvCxnSpPr>
            <a:stCxn id="6" idx="0"/>
            <a:endCxn id="8" idx="1"/>
          </p:cNvCxnSpPr>
          <p:nvPr/>
        </p:nvCxnSpPr>
        <p:spPr>
          <a:xfrm rot="5400000" flipH="1" flipV="1">
            <a:off x="4273313" y="2377679"/>
            <a:ext cx="394931" cy="53760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9F9E14B3-4143-5DCF-8F55-A0A784829B6A}"/>
              </a:ext>
            </a:extLst>
          </p:cNvPr>
          <p:cNvCxnSpPr>
            <a:stCxn id="6" idx="2"/>
            <a:endCxn id="7" idx="1"/>
          </p:cNvCxnSpPr>
          <p:nvPr/>
        </p:nvCxnSpPr>
        <p:spPr>
          <a:xfrm rot="16200000" flipH="1">
            <a:off x="4286153" y="3879388"/>
            <a:ext cx="394930" cy="56328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BD562928-FC29-ADD0-BD90-E8F4E16546AA}"/>
              </a:ext>
            </a:extLst>
          </p:cNvPr>
          <p:cNvCxnSpPr>
            <a:stCxn id="8" idx="3"/>
            <a:endCxn id="9" idx="1"/>
          </p:cNvCxnSpPr>
          <p:nvPr/>
        </p:nvCxnSpPr>
        <p:spPr>
          <a:xfrm>
            <a:off x="6348739" y="2449014"/>
            <a:ext cx="182882" cy="19923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D8B91F0C-B530-11A8-6FA9-9F7227AA0514}"/>
              </a:ext>
            </a:extLst>
          </p:cNvPr>
          <p:cNvCxnSpPr>
            <a:stCxn id="7" idx="3"/>
            <a:endCxn id="10" idx="1"/>
          </p:cNvCxnSpPr>
          <p:nvPr/>
        </p:nvCxnSpPr>
        <p:spPr>
          <a:xfrm flipV="1">
            <a:off x="6374420" y="4094933"/>
            <a:ext cx="157201" cy="26356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FC11E0BE-437C-4340-ABD4-0F75AFE9C629}"/>
              </a:ext>
            </a:extLst>
          </p:cNvPr>
          <p:cNvCxnSpPr>
            <a:stCxn id="10" idx="3"/>
            <a:endCxn id="11" idx="2"/>
          </p:cNvCxnSpPr>
          <p:nvPr/>
        </p:nvCxnSpPr>
        <p:spPr>
          <a:xfrm flipV="1">
            <a:off x="7671237" y="3765586"/>
            <a:ext cx="737912" cy="32934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5024A829-334C-4E3D-96EE-D4F01FAA5953}"/>
              </a:ext>
            </a:extLst>
          </p:cNvPr>
          <p:cNvCxnSpPr>
            <a:stCxn id="11" idx="3"/>
            <a:endCxn id="12" idx="1"/>
          </p:cNvCxnSpPr>
          <p:nvPr/>
        </p:nvCxnSpPr>
        <p:spPr>
          <a:xfrm flipV="1">
            <a:off x="8883177" y="3342003"/>
            <a:ext cx="275255" cy="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6524D400-F2EC-D77A-759F-0A94BB17A980}"/>
              </a:ext>
            </a:extLst>
          </p:cNvPr>
          <p:cNvCxnSpPr>
            <a:stCxn id="12" idx="3"/>
            <a:endCxn id="13" idx="1"/>
          </p:cNvCxnSpPr>
          <p:nvPr/>
        </p:nvCxnSpPr>
        <p:spPr>
          <a:xfrm flipV="1">
            <a:off x="9997528" y="3342002"/>
            <a:ext cx="237438" cy="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9F3CE44-86B3-1A86-4078-84A459C35C51}"/>
              </a:ext>
            </a:extLst>
          </p:cNvPr>
          <p:cNvCxnSpPr>
            <a:stCxn id="13" idx="3"/>
            <a:endCxn id="15" idx="1"/>
          </p:cNvCxnSpPr>
          <p:nvPr/>
        </p:nvCxnSpPr>
        <p:spPr>
          <a:xfrm flipV="1">
            <a:off x="10837394" y="3342001"/>
            <a:ext cx="37207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Picture 77">
            <a:extLst>
              <a:ext uri="{FF2B5EF4-FFF2-40B4-BE49-F238E27FC236}">
                <a16:creationId xmlns:a16="http://schemas.microsoft.com/office/drawing/2014/main" id="{0928A10D-AE90-024B-9439-60A2BA22214C}"/>
              </a:ext>
            </a:extLst>
          </p:cNvPr>
          <p:cNvPicPr>
            <a:picLocks noChangeAspect="1"/>
          </p:cNvPicPr>
          <p:nvPr/>
        </p:nvPicPr>
        <p:blipFill>
          <a:blip r:embed="rId3">
            <a:alphaModFix amt="5000"/>
          </a:blip>
          <a:stretch>
            <a:fillRect/>
          </a:stretch>
        </p:blipFill>
        <p:spPr>
          <a:xfrm>
            <a:off x="0" y="4290634"/>
            <a:ext cx="12285233" cy="2570738"/>
          </a:xfrm>
          <a:prstGeom prst="rect">
            <a:avLst/>
          </a:prstGeom>
        </p:spPr>
      </p:pic>
    </p:spTree>
    <p:extLst>
      <p:ext uri="{BB962C8B-B14F-4D97-AF65-F5344CB8AC3E}">
        <p14:creationId xmlns:p14="http://schemas.microsoft.com/office/powerpoint/2010/main" val="124741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99CD92D-A575-8307-4352-F0BA81EB27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FF50A4-5ED8-3FB1-7BC6-C928C539FDC4}"/>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dirty="0">
                <a:solidFill>
                  <a:srgbClr val="213163"/>
                </a:solidFill>
              </a:rPr>
              <a:t>Technology Stack</a:t>
            </a:r>
          </a:p>
        </p:txBody>
      </p:sp>
      <p:sp>
        <p:nvSpPr>
          <p:cNvPr id="3" name="TextBox 2">
            <a:extLst>
              <a:ext uri="{FF2B5EF4-FFF2-40B4-BE49-F238E27FC236}">
                <a16:creationId xmlns:a16="http://schemas.microsoft.com/office/drawing/2014/main" id="{5BFE826D-CDA4-826F-12B8-8B9D605765CC}"/>
              </a:ext>
            </a:extLst>
          </p:cNvPr>
          <p:cNvSpPr txBox="1"/>
          <p:nvPr/>
        </p:nvSpPr>
        <p:spPr>
          <a:xfrm>
            <a:off x="560729" y="1904104"/>
            <a:ext cx="7632367" cy="3785652"/>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t>Frontend:</a:t>
            </a:r>
          </a:p>
          <a:p>
            <a:pPr lvl="4"/>
            <a:r>
              <a:rPr lang="en-IN" sz="1600" dirty="0"/>
              <a:t>	- Streamlit – Interactive web interface</a:t>
            </a:r>
          </a:p>
          <a:p>
            <a:pPr lvl="2"/>
            <a:r>
              <a:rPr lang="en-IN" sz="1600" dirty="0"/>
              <a:t>	- HTML &amp; CSS – UI styling and green theme design</a:t>
            </a:r>
          </a:p>
          <a:p>
            <a:pPr marL="285750" indent="-285750">
              <a:buFont typeface="Wingdings" panose="05000000000000000000" pitchFamily="2" charset="2"/>
              <a:buChar char="Ø"/>
            </a:pPr>
            <a:r>
              <a:rPr lang="en-IN" sz="1600" dirty="0"/>
              <a:t>Backend / Logic:</a:t>
            </a:r>
          </a:p>
          <a:p>
            <a:r>
              <a:rPr lang="en-IN" sz="1600" dirty="0"/>
              <a:t>	- Python – Core application logic</a:t>
            </a:r>
          </a:p>
          <a:p>
            <a:r>
              <a:rPr lang="en-IN" sz="1600" dirty="0"/>
              <a:t>	- NumPy – Numerical computations</a:t>
            </a:r>
          </a:p>
          <a:p>
            <a:r>
              <a:rPr lang="en-IN" sz="1600" dirty="0"/>
              <a:t>	- Pandas – Data loading and preprocessing</a:t>
            </a:r>
          </a:p>
          <a:p>
            <a:pPr marL="285750" indent="-285750">
              <a:buFont typeface="Wingdings" panose="05000000000000000000" pitchFamily="2" charset="2"/>
              <a:buChar char="Ø"/>
            </a:pPr>
            <a:r>
              <a:rPr lang="en-IN" sz="1600" dirty="0"/>
              <a:t>Machine Learning</a:t>
            </a:r>
          </a:p>
          <a:p>
            <a:r>
              <a:rPr lang="en-IN" sz="1600" dirty="0"/>
              <a:t>	- Scikit-learn</a:t>
            </a:r>
          </a:p>
          <a:p>
            <a:pPr lvl="1"/>
            <a:r>
              <a:rPr lang="en-IN" sz="1600" dirty="0"/>
              <a:t>	- KNN (Nearest Neighbors) – EV recommendation &amp; charging station search</a:t>
            </a:r>
          </a:p>
          <a:p>
            <a:pPr lvl="1"/>
            <a:r>
              <a:rPr lang="en-IN" sz="1600" dirty="0"/>
              <a:t>	- Distance calculations (Haversine metric)</a:t>
            </a:r>
          </a:p>
          <a:p>
            <a:pPr marL="285750" indent="-285750">
              <a:buFont typeface="Wingdings" panose="05000000000000000000" pitchFamily="2" charset="2"/>
              <a:buChar char="Ø"/>
            </a:pPr>
            <a:r>
              <a:rPr lang="en-IN" sz="1600" dirty="0"/>
              <a:t>Data Sources</a:t>
            </a:r>
          </a:p>
          <a:p>
            <a:r>
              <a:rPr lang="en-IN" sz="1600" dirty="0"/>
              <a:t>	- CSV files – EV car data &amp; charging station data</a:t>
            </a:r>
          </a:p>
          <a:p>
            <a:r>
              <a:rPr lang="en-IN" sz="1600" dirty="0"/>
              <a:t>	- JSON files – EV FAQ dataset</a:t>
            </a:r>
          </a:p>
        </p:txBody>
      </p:sp>
      <p:pic>
        <p:nvPicPr>
          <p:cNvPr id="7" name="Picture 6">
            <a:extLst>
              <a:ext uri="{FF2B5EF4-FFF2-40B4-BE49-F238E27FC236}">
                <a16:creationId xmlns:a16="http://schemas.microsoft.com/office/drawing/2014/main" id="{BAAAE7AD-8CB9-71C2-54FB-1817FEB7B001}"/>
              </a:ext>
            </a:extLst>
          </p:cNvPr>
          <p:cNvPicPr>
            <a:picLocks noChangeAspect="1"/>
          </p:cNvPicPr>
          <p:nvPr/>
        </p:nvPicPr>
        <p:blipFill>
          <a:blip r:embed="rId3"/>
          <a:stretch>
            <a:fillRect/>
          </a:stretch>
        </p:blipFill>
        <p:spPr>
          <a:xfrm>
            <a:off x="9191434" y="2141516"/>
            <a:ext cx="1166158" cy="1166158"/>
          </a:xfrm>
          <a:prstGeom prst="rect">
            <a:avLst/>
          </a:prstGeom>
        </p:spPr>
      </p:pic>
      <p:pic>
        <p:nvPicPr>
          <p:cNvPr id="11" name="Picture 10">
            <a:extLst>
              <a:ext uri="{FF2B5EF4-FFF2-40B4-BE49-F238E27FC236}">
                <a16:creationId xmlns:a16="http://schemas.microsoft.com/office/drawing/2014/main" id="{BFB51ACC-869A-FB5E-26A7-32D12274A73D}"/>
              </a:ext>
            </a:extLst>
          </p:cNvPr>
          <p:cNvPicPr>
            <a:picLocks noChangeAspect="1"/>
          </p:cNvPicPr>
          <p:nvPr/>
        </p:nvPicPr>
        <p:blipFill>
          <a:blip r:embed="rId4"/>
          <a:stretch>
            <a:fillRect/>
          </a:stretch>
        </p:blipFill>
        <p:spPr>
          <a:xfrm>
            <a:off x="8558304" y="3360169"/>
            <a:ext cx="748016" cy="751227"/>
          </a:xfrm>
          <a:prstGeom prst="rect">
            <a:avLst/>
          </a:prstGeom>
        </p:spPr>
      </p:pic>
      <p:pic>
        <p:nvPicPr>
          <p:cNvPr id="9" name="Picture 8">
            <a:extLst>
              <a:ext uri="{FF2B5EF4-FFF2-40B4-BE49-F238E27FC236}">
                <a16:creationId xmlns:a16="http://schemas.microsoft.com/office/drawing/2014/main" id="{F1697AFE-FD5E-679F-8E0C-86A06B7C923E}"/>
              </a:ext>
            </a:extLst>
          </p:cNvPr>
          <p:cNvPicPr>
            <a:picLocks noChangeAspect="1"/>
          </p:cNvPicPr>
          <p:nvPr/>
        </p:nvPicPr>
        <p:blipFill>
          <a:blip r:embed="rId5"/>
          <a:stretch>
            <a:fillRect/>
          </a:stretch>
        </p:blipFill>
        <p:spPr>
          <a:xfrm>
            <a:off x="9469517" y="3307674"/>
            <a:ext cx="1445858" cy="866573"/>
          </a:xfrm>
          <a:prstGeom prst="rect">
            <a:avLst/>
          </a:prstGeom>
        </p:spPr>
      </p:pic>
      <p:pic>
        <p:nvPicPr>
          <p:cNvPr id="15" name="Picture 14">
            <a:extLst>
              <a:ext uri="{FF2B5EF4-FFF2-40B4-BE49-F238E27FC236}">
                <a16:creationId xmlns:a16="http://schemas.microsoft.com/office/drawing/2014/main" id="{89C3F907-A33F-BCCF-CECF-356776140ACF}"/>
              </a:ext>
            </a:extLst>
          </p:cNvPr>
          <p:cNvPicPr>
            <a:picLocks noChangeAspect="1"/>
          </p:cNvPicPr>
          <p:nvPr/>
        </p:nvPicPr>
        <p:blipFill>
          <a:blip r:embed="rId6"/>
          <a:stretch>
            <a:fillRect/>
          </a:stretch>
        </p:blipFill>
        <p:spPr>
          <a:xfrm>
            <a:off x="9443846" y="4174247"/>
            <a:ext cx="865686" cy="1017766"/>
          </a:xfrm>
          <a:prstGeom prst="rect">
            <a:avLst/>
          </a:prstGeom>
        </p:spPr>
      </p:pic>
      <p:sp>
        <p:nvSpPr>
          <p:cNvPr id="16" name="Oval 15">
            <a:extLst>
              <a:ext uri="{FF2B5EF4-FFF2-40B4-BE49-F238E27FC236}">
                <a16:creationId xmlns:a16="http://schemas.microsoft.com/office/drawing/2014/main" id="{5C9DC8CC-DD74-46AD-97F6-F930D28956CC}"/>
              </a:ext>
            </a:extLst>
          </p:cNvPr>
          <p:cNvSpPr/>
          <p:nvPr/>
        </p:nvSpPr>
        <p:spPr>
          <a:xfrm>
            <a:off x="8200611" y="2134598"/>
            <a:ext cx="3147803" cy="32023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668566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514D052-F397-BC36-1052-36D19CF59B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5B80B1-3B59-EA2F-68D8-475020EC920F}"/>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a:solidFill>
                  <a:srgbClr val="213163"/>
                </a:solidFill>
              </a:rPr>
              <a:t>Result/Outcomes</a:t>
            </a:r>
            <a:endParaRPr lang="en-US"/>
          </a:p>
        </p:txBody>
      </p:sp>
      <p:sp>
        <p:nvSpPr>
          <p:cNvPr id="3" name="TextBox 2">
            <a:extLst>
              <a:ext uri="{FF2B5EF4-FFF2-40B4-BE49-F238E27FC236}">
                <a16:creationId xmlns:a16="http://schemas.microsoft.com/office/drawing/2014/main" id="{74B5A178-14AC-518E-5CBA-1CA5244071A6}"/>
              </a:ext>
            </a:extLst>
          </p:cNvPr>
          <p:cNvSpPr txBox="1"/>
          <p:nvPr/>
        </p:nvSpPr>
        <p:spPr>
          <a:xfrm>
            <a:off x="935914" y="1740662"/>
            <a:ext cx="6734288" cy="4402167"/>
          </a:xfrm>
          <a:prstGeom prst="rect">
            <a:avLst/>
          </a:prstGeom>
          <a:noFill/>
        </p:spPr>
        <p:txBody>
          <a:bodyPr wrap="square" rtlCol="0">
            <a:spAutoFit/>
          </a:bodyPr>
          <a:lstStyle/>
          <a:p>
            <a:pPr marL="342900" indent="-342900">
              <a:buFont typeface="Wingdings" panose="05000000000000000000" pitchFamily="2" charset="2"/>
              <a:buChar char="v"/>
            </a:pPr>
            <a:r>
              <a:rPr lang="en-US" dirty="0"/>
              <a:t>Successfully recommends similar EV models based on battery, range, and efficiency</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Accurately identifies nearest charging stations using latitude-longitude data</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Estimates charging time based on battery level and trip distance</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Responds to common EV-related queries through FAQ chatbot</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Provides a smooth, interactive, and visually appealing interface</a:t>
            </a:r>
          </a:p>
          <a:p>
            <a:pPr marL="342900" indent="-342900">
              <a:buFont typeface="Wingdings" panose="05000000000000000000" pitchFamily="2" charset="2"/>
              <a:buChar char="v"/>
            </a:pPr>
            <a:endParaRPr lang="en-IN" dirty="0"/>
          </a:p>
        </p:txBody>
      </p:sp>
      <p:pic>
        <p:nvPicPr>
          <p:cNvPr id="7" name="Picture 6">
            <a:extLst>
              <a:ext uri="{FF2B5EF4-FFF2-40B4-BE49-F238E27FC236}">
                <a16:creationId xmlns:a16="http://schemas.microsoft.com/office/drawing/2014/main" id="{4A33AA83-F5DB-9943-A288-3DA3CB0DFCE7}"/>
              </a:ext>
            </a:extLst>
          </p:cNvPr>
          <p:cNvPicPr>
            <a:picLocks noChangeAspect="1"/>
          </p:cNvPicPr>
          <p:nvPr/>
        </p:nvPicPr>
        <p:blipFill>
          <a:blip r:embed="rId3"/>
          <a:stretch>
            <a:fillRect/>
          </a:stretch>
        </p:blipFill>
        <p:spPr>
          <a:xfrm>
            <a:off x="7918077" y="3909548"/>
            <a:ext cx="4136891" cy="2895824"/>
          </a:xfrm>
          <a:prstGeom prst="rect">
            <a:avLst/>
          </a:prstGeom>
        </p:spPr>
      </p:pic>
    </p:spTree>
    <p:extLst>
      <p:ext uri="{BB962C8B-B14F-4D97-AF65-F5344CB8AC3E}">
        <p14:creationId xmlns:p14="http://schemas.microsoft.com/office/powerpoint/2010/main" val="4151153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2F31CEF-5515-4F5D-1100-281FEB2D19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7B0A38-E51F-FAB3-43A3-E6F66F53FEEB}"/>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dirty="0">
                <a:solidFill>
                  <a:srgbClr val="213163"/>
                </a:solidFill>
              </a:rPr>
              <a:t>Conclusion:</a:t>
            </a:r>
            <a:endParaRPr lang="en-US" dirty="0"/>
          </a:p>
        </p:txBody>
      </p:sp>
      <p:sp>
        <p:nvSpPr>
          <p:cNvPr id="3" name="TextBox 2">
            <a:extLst>
              <a:ext uri="{FF2B5EF4-FFF2-40B4-BE49-F238E27FC236}">
                <a16:creationId xmlns:a16="http://schemas.microsoft.com/office/drawing/2014/main" id="{BACF881A-BE13-778F-D8A0-51E96143B2AF}"/>
              </a:ext>
            </a:extLst>
          </p:cNvPr>
          <p:cNvSpPr txBox="1"/>
          <p:nvPr/>
        </p:nvSpPr>
        <p:spPr>
          <a:xfrm>
            <a:off x="1506070" y="1645921"/>
            <a:ext cx="5217459" cy="3918252"/>
          </a:xfrm>
          <a:prstGeom prst="rect">
            <a:avLst/>
          </a:prstGeom>
          <a:noFill/>
        </p:spPr>
        <p:txBody>
          <a:bodyPr wrap="square" rtlCol="0">
            <a:spAutoFit/>
          </a:bodyPr>
          <a:lstStyle/>
          <a:p>
            <a:pPr algn="just">
              <a:lnSpc>
                <a:spcPct val="150000"/>
              </a:lnSpc>
            </a:pPr>
            <a:r>
              <a:rPr lang="en-US" dirty="0"/>
              <a:t>The </a:t>
            </a:r>
            <a:r>
              <a:rPr lang="en-US" b="1" dirty="0"/>
              <a:t>EV Assistant</a:t>
            </a:r>
            <a:r>
              <a:rPr lang="en-US" dirty="0"/>
              <a:t> effectively addresses major challenges faced by EV users by combining recommendation systems, location-based services, and interactive assistance into a single platform. The system enhances user confidence, reduces range anxiety, and supports eco-friendly transportation. It serves as a practical solution for both existing and prospective EV users.</a:t>
            </a:r>
            <a:endParaRPr lang="en-IN" dirty="0"/>
          </a:p>
        </p:txBody>
      </p:sp>
      <p:pic>
        <p:nvPicPr>
          <p:cNvPr id="7" name="Picture 6">
            <a:extLst>
              <a:ext uri="{FF2B5EF4-FFF2-40B4-BE49-F238E27FC236}">
                <a16:creationId xmlns:a16="http://schemas.microsoft.com/office/drawing/2014/main" id="{AB26FB4E-118E-2B86-77A9-08CDCFF32E1D}"/>
              </a:ext>
            </a:extLst>
          </p:cNvPr>
          <p:cNvPicPr>
            <a:picLocks noChangeAspect="1"/>
          </p:cNvPicPr>
          <p:nvPr/>
        </p:nvPicPr>
        <p:blipFill>
          <a:blip r:embed="rId3"/>
          <a:stretch>
            <a:fillRect/>
          </a:stretch>
        </p:blipFill>
        <p:spPr>
          <a:xfrm>
            <a:off x="7507096" y="1562153"/>
            <a:ext cx="3658746" cy="2268805"/>
          </a:xfrm>
          <a:prstGeom prst="rect">
            <a:avLst/>
          </a:prstGeom>
        </p:spPr>
      </p:pic>
      <p:pic>
        <p:nvPicPr>
          <p:cNvPr id="9" name="Picture 8">
            <a:extLst>
              <a:ext uri="{FF2B5EF4-FFF2-40B4-BE49-F238E27FC236}">
                <a16:creationId xmlns:a16="http://schemas.microsoft.com/office/drawing/2014/main" id="{EB2C254B-7F79-2C69-01CF-798DBDCB885D}"/>
              </a:ext>
            </a:extLst>
          </p:cNvPr>
          <p:cNvPicPr>
            <a:picLocks noChangeAspect="1"/>
          </p:cNvPicPr>
          <p:nvPr/>
        </p:nvPicPr>
        <p:blipFill>
          <a:blip r:embed="rId4"/>
          <a:stretch>
            <a:fillRect/>
          </a:stretch>
        </p:blipFill>
        <p:spPr>
          <a:xfrm>
            <a:off x="7507096" y="3830958"/>
            <a:ext cx="3658746" cy="1258580"/>
          </a:xfrm>
          <a:prstGeom prst="rect">
            <a:avLst/>
          </a:prstGeom>
        </p:spPr>
      </p:pic>
    </p:spTree>
    <p:extLst>
      <p:ext uri="{BB962C8B-B14F-4D97-AF65-F5344CB8AC3E}">
        <p14:creationId xmlns:p14="http://schemas.microsoft.com/office/powerpoint/2010/main" val="154726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D19869F-96B9-5203-AAF3-45AE6C4BE1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0D9D66-F842-8A54-E13C-54231FFCB3A9}"/>
              </a:ext>
            </a:extLst>
          </p:cNvPr>
          <p:cNvSpPr txBox="1"/>
          <p:nvPr/>
        </p:nvSpPr>
        <p:spPr>
          <a:xfrm>
            <a:off x="202071" y="972537"/>
            <a:ext cx="5904091" cy="400110"/>
          </a:xfrm>
          <a:prstGeom prst="rect">
            <a:avLst/>
          </a:prstGeom>
          <a:noFill/>
        </p:spPr>
        <p:txBody>
          <a:bodyPr wrap="square" lIns="91440" tIns="45720" rIns="91440" bIns="45720" anchor="t">
            <a:spAutoFit/>
          </a:bodyPr>
          <a:lstStyle/>
          <a:p>
            <a:r>
              <a:rPr lang="en-IN" sz="2000" b="1">
                <a:solidFill>
                  <a:srgbClr val="213163"/>
                </a:solidFill>
              </a:rPr>
              <a:t>Future Perspective</a:t>
            </a:r>
            <a:endParaRPr lang="en-US"/>
          </a:p>
        </p:txBody>
      </p:sp>
      <p:sp>
        <p:nvSpPr>
          <p:cNvPr id="4" name="Rectangle 1">
            <a:extLst>
              <a:ext uri="{FF2B5EF4-FFF2-40B4-BE49-F238E27FC236}">
                <a16:creationId xmlns:a16="http://schemas.microsoft.com/office/drawing/2014/main" id="{D498179F-84EA-7922-48F6-7C66E0F0D9C9}"/>
              </a:ext>
            </a:extLst>
          </p:cNvPr>
          <p:cNvSpPr>
            <a:spLocks noChangeArrowheads="1"/>
          </p:cNvSpPr>
          <p:nvPr/>
        </p:nvSpPr>
        <p:spPr bwMode="auto">
          <a:xfrm>
            <a:off x="785308" y="1900657"/>
            <a:ext cx="616413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Real-time charging station availability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AI-based charging time prediction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Live route optimization with traffic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Charger type compatibility filtering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Mobile application version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Integration with Google Maps / OpenStreetMap APIs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User profiles and trip history tracking</a:t>
            </a:r>
          </a:p>
        </p:txBody>
      </p:sp>
      <p:pic>
        <p:nvPicPr>
          <p:cNvPr id="6" name="Picture 5">
            <a:extLst>
              <a:ext uri="{FF2B5EF4-FFF2-40B4-BE49-F238E27FC236}">
                <a16:creationId xmlns:a16="http://schemas.microsoft.com/office/drawing/2014/main" id="{AF371692-BF66-10AD-1617-CECA33663C17}"/>
              </a:ext>
            </a:extLst>
          </p:cNvPr>
          <p:cNvPicPr>
            <a:picLocks noChangeAspect="1"/>
          </p:cNvPicPr>
          <p:nvPr/>
        </p:nvPicPr>
        <p:blipFill>
          <a:blip r:embed="rId3">
            <a:alphaModFix amt="5000"/>
          </a:blip>
          <a:stretch>
            <a:fillRect/>
          </a:stretch>
        </p:blipFill>
        <p:spPr>
          <a:xfrm>
            <a:off x="0" y="5066852"/>
            <a:ext cx="12192000" cy="1791148"/>
          </a:xfrm>
          <a:prstGeom prst="rect">
            <a:avLst/>
          </a:prstGeom>
        </p:spPr>
      </p:pic>
      <p:pic>
        <p:nvPicPr>
          <p:cNvPr id="10" name="Picture 9">
            <a:extLst>
              <a:ext uri="{FF2B5EF4-FFF2-40B4-BE49-F238E27FC236}">
                <a16:creationId xmlns:a16="http://schemas.microsoft.com/office/drawing/2014/main" id="{6A3A706B-1A67-0EA8-EEA7-67503361817C}"/>
              </a:ext>
            </a:extLst>
          </p:cNvPr>
          <p:cNvPicPr>
            <a:picLocks noChangeAspect="1"/>
          </p:cNvPicPr>
          <p:nvPr/>
        </p:nvPicPr>
        <p:blipFill>
          <a:blip r:embed="rId4"/>
          <a:stretch>
            <a:fillRect/>
          </a:stretch>
        </p:blipFill>
        <p:spPr>
          <a:xfrm>
            <a:off x="6949439" y="2255523"/>
            <a:ext cx="4065374" cy="2456463"/>
          </a:xfrm>
          <a:prstGeom prst="rect">
            <a:avLst/>
          </a:prstGeom>
        </p:spPr>
      </p:pic>
      <p:sp>
        <p:nvSpPr>
          <p:cNvPr id="3" name="TextBox 2">
            <a:extLst>
              <a:ext uri="{FF2B5EF4-FFF2-40B4-BE49-F238E27FC236}">
                <a16:creationId xmlns:a16="http://schemas.microsoft.com/office/drawing/2014/main" id="{6FD4E168-EACB-8D02-9821-C5A90DB46811}"/>
              </a:ext>
            </a:extLst>
          </p:cNvPr>
          <p:cNvSpPr txBox="1"/>
          <p:nvPr/>
        </p:nvSpPr>
        <p:spPr>
          <a:xfrm>
            <a:off x="675580" y="6121986"/>
            <a:ext cx="8797604" cy="276999"/>
          </a:xfrm>
          <a:prstGeom prst="rect">
            <a:avLst/>
          </a:prstGeom>
          <a:noFill/>
        </p:spPr>
        <p:txBody>
          <a:bodyPr wrap="square" rtlCol="0">
            <a:spAutoFit/>
          </a:bodyPr>
          <a:lstStyle/>
          <a:p>
            <a:r>
              <a:rPr lang="en-IN" sz="1200" dirty="0"/>
              <a:t>GitHub Link:</a:t>
            </a:r>
            <a:r>
              <a:rPr lang="en-IN" sz="1200" dirty="0">
                <a:hlinkClick r:id="rId5"/>
              </a:rPr>
              <a:t> GitHub - sejalshir60/EV-Assistant</a:t>
            </a:r>
            <a:endParaRPr lang="en-IN" sz="1200" dirty="0"/>
          </a:p>
        </p:txBody>
      </p:sp>
    </p:spTree>
    <p:extLst>
      <p:ext uri="{BB962C8B-B14F-4D97-AF65-F5344CB8AC3E}">
        <p14:creationId xmlns:p14="http://schemas.microsoft.com/office/powerpoint/2010/main" val="459288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2934286"/>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a:solidFill>
                  <a:srgbClr val="213163"/>
                </a:solidFill>
              </a:rPr>
              <a:t>Thank You</a:t>
            </a:r>
            <a:endParaRPr lang="en-US" sz="5000"/>
          </a:p>
        </p:txBody>
      </p:sp>
      <p:pic>
        <p:nvPicPr>
          <p:cNvPr id="4" name="Picture 3">
            <a:extLst>
              <a:ext uri="{FF2B5EF4-FFF2-40B4-BE49-F238E27FC236}">
                <a16:creationId xmlns:a16="http://schemas.microsoft.com/office/drawing/2014/main" id="{B46D7EEA-10AE-21D6-2DBF-FDCD55173370}"/>
              </a:ext>
            </a:extLst>
          </p:cNvPr>
          <p:cNvPicPr>
            <a:picLocks noChangeAspect="1"/>
          </p:cNvPicPr>
          <p:nvPr/>
        </p:nvPicPr>
        <p:blipFill>
          <a:blip r:embed="rId3">
            <a:alphaModFix amt="5000"/>
          </a:blip>
          <a:stretch>
            <a:fillRect/>
          </a:stretch>
        </p:blipFill>
        <p:spPr>
          <a:xfrm>
            <a:off x="0" y="4956266"/>
            <a:ext cx="12192000" cy="1901734"/>
          </a:xfrm>
          <a:prstGeom prst="rect">
            <a:avLst/>
          </a:prstGeom>
        </p:spPr>
      </p:pic>
    </p:spTree>
    <p:extLst>
      <p:ext uri="{BB962C8B-B14F-4D97-AF65-F5344CB8AC3E}">
        <p14:creationId xmlns:p14="http://schemas.microsoft.com/office/powerpoint/2010/main" val="35443651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361</TotalTime>
  <Words>624</Words>
  <Application>Microsoft Office PowerPoint</Application>
  <PresentationFormat>Widescreen</PresentationFormat>
  <Paragraphs>105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sejal shirsath</cp:lastModifiedBy>
  <cp:revision>10</cp:revision>
  <dcterms:modified xsi:type="dcterms:W3CDTF">2026-02-07T04:56:34Z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ArticulateGUID">
    <vt:lpwstr>9933309E-0FFA-4A0C-99DC-6F95618B9D68</vt:lpwstr>
  </property>
  <property fmtid="{D5CDD505-2E9C-101B-9397-08002B2CF9AE}" pid="4" name="ArticulatePath">
    <vt:lpwstr>https://edunetfoundationorg-my.sharepoint.com/personal/kaisar_edunetfoundation_org/Documents/Beutified ppt/Microsoft Shell/Skills4Future/Temp</vt:lpwstr>
  </property>
</Properties>
</file>